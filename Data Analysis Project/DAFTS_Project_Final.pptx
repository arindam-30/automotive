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86" r:id="rId2"/>
  </p:sldMasterIdLst>
  <p:notesMasterIdLst>
    <p:notesMasterId r:id="rId36"/>
  </p:notesMasterIdLst>
  <p:sldIdLst>
    <p:sldId id="269" r:id="rId3"/>
    <p:sldId id="294" r:id="rId4"/>
    <p:sldId id="271" r:id="rId5"/>
    <p:sldId id="315" r:id="rId6"/>
    <p:sldId id="318" r:id="rId7"/>
    <p:sldId id="317" r:id="rId8"/>
    <p:sldId id="321" r:id="rId9"/>
    <p:sldId id="320" r:id="rId10"/>
    <p:sldId id="319" r:id="rId11"/>
    <p:sldId id="322" r:id="rId12"/>
    <p:sldId id="324" r:id="rId13"/>
    <p:sldId id="323" r:id="rId14"/>
    <p:sldId id="325" r:id="rId15"/>
    <p:sldId id="327" r:id="rId16"/>
    <p:sldId id="326" r:id="rId17"/>
    <p:sldId id="328" r:id="rId18"/>
    <p:sldId id="329" r:id="rId19"/>
    <p:sldId id="344" r:id="rId20"/>
    <p:sldId id="331" r:id="rId21"/>
    <p:sldId id="335" r:id="rId22"/>
    <p:sldId id="333" r:id="rId23"/>
    <p:sldId id="334" r:id="rId24"/>
    <p:sldId id="332" r:id="rId25"/>
    <p:sldId id="330" r:id="rId26"/>
    <p:sldId id="336" r:id="rId27"/>
    <p:sldId id="337" r:id="rId28"/>
    <p:sldId id="338" r:id="rId29"/>
    <p:sldId id="339" r:id="rId30"/>
    <p:sldId id="340" r:id="rId31"/>
    <p:sldId id="341" r:id="rId32"/>
    <p:sldId id="343" r:id="rId33"/>
    <p:sldId id="342" r:id="rId34"/>
    <p:sldId id="345" r:id="rId35"/>
  </p:sldIdLst>
  <p:sldSz cx="12192000" cy="6858000"/>
  <p:notesSz cx="6858000" cy="9144000"/>
  <p:embeddedFontLst>
    <p:embeddedFont>
      <p:font typeface="Manrope" panose="020B0604020202020204" charset="0"/>
      <p:regular r:id="rId37"/>
      <p:bold r:id="rId38"/>
      <p:italic r:id="rId39"/>
      <p:boldItalic r:id="rId40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102C53"/>
    <a:srgbClr val="F3F3F3"/>
    <a:srgbClr val="E3E6EB"/>
    <a:srgbClr val="D2D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Stile medio 4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ile medio 4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0588" autoAdjust="0"/>
  </p:normalViewPr>
  <p:slideViewPr>
    <p:cSldViewPr snapToGrid="0" showGuides="1">
      <p:cViewPr varScale="1">
        <p:scale>
          <a:sx n="75" d="100"/>
          <a:sy n="75" d="100"/>
        </p:scale>
        <p:origin x="965" y="43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2F874-A982-4EC3-BD4B-BD59E32C66C1}" type="datetimeFigureOut">
              <a:rPr lang="it-IT" smtClean="0"/>
              <a:t>20/01/2026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62F2E-6FDF-4A6B-AB76-08EC33B1253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88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7603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6601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6144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5697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88CA1-C71E-D2F1-9D5E-0BA0B31B1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8D2E1-7840-992B-F98E-BBD93A83D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446CE-7067-8192-CB63-CF40E7351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5A25-6A95-F670-EF20-F06E69CB5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0688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DEB82-2A44-5F42-4BFF-86F591A4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10AC5-3FFC-5EA2-C516-91683B3B9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8F971-1B3D-10BF-DA73-4863387A9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7D8A2-FE7A-9B59-E3A3-C3D76E3A8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319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033A-0784-FD01-FD50-8C5C6C54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184F1-4403-7361-BBA6-9AF545AB0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97855-5ED4-3CA1-CC48-837D1FB95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74B31-64D9-F0D5-B6DF-1973F6AF9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83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1E7C1-6A4B-7AFF-8FA9-655C9941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A9005-AFFA-0200-358B-69A44328D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AF917-1C85-7C33-D5EC-2D8590CAD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24F2F-9A64-10D8-7293-240C53D7D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1827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B27B2-09B2-74D1-01F7-F5D5FE9E0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C6413-CB53-5DCA-855F-6B94FF087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D343C-1911-2FF6-6B2C-1DF0F7044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5139E-73A7-6B97-AB1C-A658E55BC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1849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B1958-BF2B-BA9E-3DD2-FDD24585A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869BD-5579-0B7E-C0AA-001154CCC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B6DA5-7167-1614-D289-6E9B80678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992B6-0AAD-5BB4-890D-B8CB63A45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0388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4CB3F-9C7C-6C9E-A301-04E39A140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48B49-6300-C305-DAE1-0570CFA78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494DA-43BB-8B2A-CC2C-5B7E18102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52B20-1D87-4B80-52A6-01947A4B0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1788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71570-506F-8486-D8E0-99B291197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2F5A2-191E-3052-4662-3953EDD30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B3AA5-B2D2-52EE-A7CC-42B102A4D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972CA-FBD4-1CB6-ACDF-84ECDA543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6208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AE4C-FCB6-A87D-30BB-06A4E570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7BE0B-06B2-A852-81D0-3802CDA96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0356A-ADD8-741A-D9AB-B55EB8BE3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D07E3-1CAA-48F3-8CC2-E1EA7469D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7547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DB99-998C-B1FC-790B-44A65B72D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F92D2-1780-59DF-BA1F-28552CBA2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6E675-C6BC-207C-F231-C2E5E7D99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124A4-EED4-8038-EC15-1CB84FE45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17130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CB4BE-9F80-2D7B-BEE6-73118ABB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37CBC8-B190-165A-D5A3-D78C6F937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3C799-F5CE-3EF6-01D2-37F846C53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9DC50-C2EA-E8CC-2FAE-F6A4A8511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2838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BB405-C672-CB96-C4CC-93EC028CE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BD8F5-B20D-F85E-7968-B90959329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E7E2C-4E5C-7D7F-2543-7941DD1F3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C72D5-AB6D-247B-028B-A8182A427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6790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ED522-A3C5-413D-0BD7-950D5BD0B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EE0B7-F3AF-2AD6-D1D4-C674D5E8F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19601-D933-F2BC-B5C5-44430C333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B902C-BE2C-8D0E-974E-A93B3867D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4363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2E58-57CC-5B47-2CFD-18F7E467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33D88-4A84-F40D-6E35-24F9B05A4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8EA5D-DE48-EADF-1464-F6AC83FB4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9D1AD-93A1-4F11-CBF6-4A1FE516E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1856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9E8C-99E0-D8D4-4404-5D63F8D69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7DFDC-FD70-B081-2B43-83B1E5F31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1E852-C0A8-658C-87DB-E2E17C802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84F85-0766-E28A-C4FE-9D4EE6281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80800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8434B-7149-EDF9-0DA2-DB93CC0D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252D3-B335-2563-838D-620AA3784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CA449-7325-9414-1A6C-2EA36637A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3DE19-4776-D9BA-8917-F826E114A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1263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282D-8A94-EAE5-686B-2F1893E07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A7006-5311-91E0-A05F-13068961F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C99AD-EA83-E436-F390-82EFDA2C0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556C2-4FC3-9A83-25BB-24717879B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7535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5BD97-CADB-8C54-BE5A-71E0030C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A0FE4-57A2-0C97-7F27-FF8F07A34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F42B2-DF81-CB7F-ABDC-49E4442F5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C139-4314-679C-0423-A80E006BC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80383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744F-0105-2EBC-A9D2-57108603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37154-2BF8-5169-73D8-1B73E5138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ADC77-66BE-51B5-52A4-A6BBA3240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9B534-B1EB-5503-ED16-695CE7E0F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1058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2E58-57CC-5B47-2CFD-18F7E467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33D88-4A84-F40D-6E35-24F9B05A4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8EA5D-DE48-EADF-1464-F6AC83FB4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9D1AD-93A1-4F11-CBF6-4A1FE516E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18567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EDCA-E252-BD8F-AD3D-89746FAE2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38003-0898-43A8-0107-666E554AE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A9F0A-4693-CCC5-7235-EA23CA85A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CA579-4F6F-B07B-E3F0-6FAA0B43C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3153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A69C-8CA8-7EB4-E5B8-03C2752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55E6E-84DB-9D4E-6507-DF0575E71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D5098-09D1-4C6C-DD6F-7D948C7B6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E4325-CAA8-2DBE-9328-EA23A4F30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55688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E9A07-11ED-5C11-5E50-482E746BA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CD22F-54C1-4206-61C4-E58DF2910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81BB2-5BAB-ADD7-7101-4A0DB3263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95FF0-FB93-F81A-D94A-C3BE3C283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45004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A82B-46DC-49A5-5056-4E782D2F5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9068D-4E74-1FF0-462D-F962B05B2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106B5-8293-375E-F9B2-66D949449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029F4-993A-9DC2-57B3-F19C18692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8684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086F5-8757-74D7-BED5-619F20C2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2F731-720B-24AC-E847-C2657A489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0F59E-74CE-AC51-4A44-5F39A74BE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E2A96-643B-E310-59F8-68EA0EBEB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44521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9195-C752-7076-D57E-25C762137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E82B4-C14F-8BD1-DB0C-A7D51B0E3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2CC3B-4E99-833F-F2D6-8AFEA8AC9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C1336-1935-44B0-A66B-33943AB69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0510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27F2-148E-5B3D-82B4-49F52866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C30E4-3C96-3F20-7FCC-49D357BA6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98EB0-A7A3-FEB5-E348-94C0ED4BE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B461B-06AF-EB0C-3101-B5079B34D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54363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7607-51A0-9A3C-E9CC-28A85891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2DB34-6080-8BDC-8D09-8D500E148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F7897-AB2C-BEF6-0621-B50A76CC9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B71F3-1248-3541-01A8-54D5BA4AD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29669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779E6-7FC6-13B8-1295-927B062F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67670-FE38-EF0C-1012-2F08D277B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EAACC-4357-4849-E9E7-4533D8A11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C47A4-2213-DF49-01B9-B9C546A3C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385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A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F172-C512-4836-A353-244AE354C796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2AF746B8-16B5-4251-938A-CD03C89D3C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16276" y="2060575"/>
            <a:ext cx="8640762" cy="4429125"/>
          </a:xfrm>
        </p:spPr>
        <p:txBody>
          <a:bodyPr/>
          <a:lstStyle>
            <a:lvl1pPr marL="342900" indent="-342900">
              <a:buFont typeface="+mj-lt"/>
              <a:buAutoNum type="arabicPeriod"/>
              <a:defRPr sz="1400" b="1">
                <a:solidFill>
                  <a:schemeClr val="tx2"/>
                </a:solidFill>
              </a:defRPr>
            </a:lvl1pPr>
            <a:lvl2pPr marL="360000" indent="0">
              <a:buFont typeface="+mj-lt"/>
              <a:buNone/>
              <a:defRPr sz="1400"/>
            </a:lvl2pPr>
            <a:lvl3pPr marL="1257300" indent="-3429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it-IT" dirty="0"/>
              <a:t>Titolo Sezione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endParaRPr lang="it-IT" dirty="0"/>
          </a:p>
          <a:p>
            <a:pPr lvl="0"/>
            <a:r>
              <a:rPr lang="it-IT" dirty="0"/>
              <a:t>Titolo Sezione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endParaRPr lang="it-IT" dirty="0"/>
          </a:p>
          <a:p>
            <a:pPr lvl="0"/>
            <a:r>
              <a:rPr lang="it-IT" dirty="0"/>
              <a:t>Titolo Sezione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r>
              <a:rPr lang="it-IT" dirty="0"/>
              <a:t>Titolo Capitolo</a:t>
            </a:r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1974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B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Indice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9B3B-2DD7-49B4-9050-46BFB4D0E106}" type="datetime1">
              <a:rPr lang="it-IT" smtClean="0"/>
              <a:t>20/01/2026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D1CFA815-ACBE-4524-9331-D296F8E0F9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054988"/>
            <a:ext cx="1890652" cy="332803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sezione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75158ADB-01E3-4A38-A321-CD450AEEEF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8652" y="3054988"/>
            <a:ext cx="1890653" cy="332803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sezione</a:t>
            </a:r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C2B0DC0F-1C21-45C1-8F2A-00A6E13418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2342" y="3054988"/>
            <a:ext cx="1890653" cy="332803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sezione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76250419-1EAD-4278-97B7-1BA8F07525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6032" y="3054988"/>
            <a:ext cx="1890653" cy="332803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sezione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DCD9C49F-F44E-4E82-864B-742438DCAE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89722" y="3054988"/>
            <a:ext cx="1890653" cy="332803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sezione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7F91CD7E-BBFD-483F-A271-EC1D28C8A8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736780"/>
            <a:ext cx="1890652" cy="187693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lvl="0"/>
            <a:endParaRPr lang="it-IT" dirty="0"/>
          </a:p>
        </p:txBody>
      </p:sp>
      <p:sp>
        <p:nvSpPr>
          <p:cNvPr id="18" name="Segnaposto testo 7">
            <a:extLst>
              <a:ext uri="{FF2B5EF4-FFF2-40B4-BE49-F238E27FC236}">
                <a16:creationId xmlns:a16="http://schemas.microsoft.com/office/drawing/2014/main" id="{50290743-6926-46ED-BE46-501A4F78CC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191706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01</a:t>
            </a:r>
          </a:p>
        </p:txBody>
      </p:sp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9AA91E9E-F4C5-4318-8BFC-5E627DF7F5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2324033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02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D6F57CB6-9F04-49B6-939C-D13BA7FB06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16200000">
            <a:off x="4515027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03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6C01B50D-1661-4131-BCDF-441CC22144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6674762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04</a:t>
            </a:r>
          </a:p>
        </p:txBody>
      </p:sp>
      <p:sp>
        <p:nvSpPr>
          <p:cNvPr id="22" name="Segnaposto testo 7">
            <a:extLst>
              <a:ext uri="{FF2B5EF4-FFF2-40B4-BE49-F238E27FC236}">
                <a16:creationId xmlns:a16="http://schemas.microsoft.com/office/drawing/2014/main" id="{2D503613-5D8F-4B95-8EB3-1396314910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8846462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05</a:t>
            </a:r>
          </a:p>
        </p:txBody>
      </p:sp>
      <p:sp>
        <p:nvSpPr>
          <p:cNvPr id="23" name="Segnaposto testo 7">
            <a:extLst>
              <a:ext uri="{FF2B5EF4-FFF2-40B4-BE49-F238E27FC236}">
                <a16:creationId xmlns:a16="http://schemas.microsoft.com/office/drawing/2014/main" id="{D6AE53A6-5645-44EC-B619-20693E3FE5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98652" y="3736780"/>
            <a:ext cx="1890652" cy="187693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lvl="0"/>
            <a:endParaRPr lang="it-IT" dirty="0"/>
          </a:p>
        </p:txBody>
      </p:sp>
      <p:sp>
        <p:nvSpPr>
          <p:cNvPr id="24" name="Segnaposto testo 7">
            <a:extLst>
              <a:ext uri="{FF2B5EF4-FFF2-40B4-BE49-F238E27FC236}">
                <a16:creationId xmlns:a16="http://schemas.microsoft.com/office/drawing/2014/main" id="{26F8B43E-3092-43FC-A7B0-45C3ACC71E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62342" y="3736780"/>
            <a:ext cx="1890652" cy="187693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lvl="0"/>
            <a:endParaRPr lang="it-IT" dirty="0"/>
          </a:p>
        </p:txBody>
      </p:sp>
      <p:sp>
        <p:nvSpPr>
          <p:cNvPr id="25" name="Segnaposto testo 7">
            <a:extLst>
              <a:ext uri="{FF2B5EF4-FFF2-40B4-BE49-F238E27FC236}">
                <a16:creationId xmlns:a16="http://schemas.microsoft.com/office/drawing/2014/main" id="{96EAA45D-80FC-4DF6-AC23-808A2DB73D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26032" y="3736780"/>
            <a:ext cx="1890652" cy="187693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lvl="0"/>
            <a:endParaRPr lang="it-IT" dirty="0"/>
          </a:p>
        </p:txBody>
      </p:sp>
      <p:sp>
        <p:nvSpPr>
          <p:cNvPr id="26" name="Segnaposto testo 7">
            <a:extLst>
              <a:ext uri="{FF2B5EF4-FFF2-40B4-BE49-F238E27FC236}">
                <a16:creationId xmlns:a16="http://schemas.microsoft.com/office/drawing/2014/main" id="{95E95A4E-A14D-4872-961D-4BFE57914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89722" y="3736780"/>
            <a:ext cx="1890652" cy="187693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Titolo argomento</a:t>
            </a:r>
          </a:p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6153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00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e 10">
            <a:extLst>
              <a:ext uri="{FF2B5EF4-FFF2-40B4-BE49-F238E27FC236}">
                <a16:creationId xmlns:a16="http://schemas.microsoft.com/office/drawing/2014/main" id="{35E14663-8764-4DCE-B9CB-7C9A4CEA9BB5}"/>
              </a:ext>
            </a:extLst>
          </p:cNvPr>
          <p:cNvSpPr/>
          <p:nvPr userDrawn="1"/>
        </p:nvSpPr>
        <p:spPr>
          <a:xfrm rot="6083929">
            <a:off x="1311375" y="1414011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del divisorio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B6A784C-C9CB-4745-8B3F-65D53FA65708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5931" y="3961597"/>
            <a:ext cx="3091107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051853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del divisorio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FF6453-3621-4EA1-91FF-E9D724F7365B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985" y="3961597"/>
            <a:ext cx="2924053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2318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C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84268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del divisorio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A10D9CF-8AD7-4DFA-9C8E-6DFC89BADB48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20808" y="3961597"/>
            <a:ext cx="3636230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57231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>
            <a:extLst>
              <a:ext uri="{FF2B5EF4-FFF2-40B4-BE49-F238E27FC236}">
                <a16:creationId xmlns:a16="http://schemas.microsoft.com/office/drawing/2014/main" id="{29206C3E-8262-4BAC-A209-F4327335E1F0}"/>
              </a:ext>
            </a:extLst>
          </p:cNvPr>
          <p:cNvSpPr/>
          <p:nvPr userDrawn="1"/>
        </p:nvSpPr>
        <p:spPr>
          <a:xfrm rot="11483929">
            <a:off x="1293786" y="-5274490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e 10">
            <a:extLst>
              <a:ext uri="{FF2B5EF4-FFF2-40B4-BE49-F238E27FC236}">
                <a16:creationId xmlns:a16="http://schemas.microsoft.com/office/drawing/2014/main" id="{E4786A85-B23B-420C-9463-CF262A126A21}"/>
              </a:ext>
            </a:extLst>
          </p:cNvPr>
          <p:cNvSpPr/>
          <p:nvPr userDrawn="1"/>
        </p:nvSpPr>
        <p:spPr>
          <a:xfrm rot="11483929">
            <a:off x="652366" y="5545716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77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493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BA84-8603-4A12-B600-018B74B8B84D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8640000" cy="4429125"/>
          </a:xfrm>
        </p:spPr>
        <p:txBody>
          <a:bodyPr/>
          <a:lstStyle/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78769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F623-441F-4125-8FDF-52A5F01591D7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5330113" cy="4429125"/>
          </a:xfrm>
        </p:spPr>
        <p:txBody>
          <a:bodyPr/>
          <a:lstStyle/>
          <a:p>
            <a:pPr lvl="0"/>
            <a:endParaRPr lang="it-IT" dirty="0"/>
          </a:p>
        </p:txBody>
      </p:sp>
      <p:sp>
        <p:nvSpPr>
          <p:cNvPr id="10" name="Segnaposto testo 6">
            <a:extLst>
              <a:ext uri="{FF2B5EF4-FFF2-40B4-BE49-F238E27FC236}">
                <a16:creationId xmlns:a16="http://schemas.microsoft.com/office/drawing/2014/main" id="{A91EDD17-1F39-46F2-A6AE-0DA93D9DE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0000" y="2060575"/>
            <a:ext cx="5330113" cy="4429125"/>
          </a:xfrm>
        </p:spPr>
        <p:txBody>
          <a:bodyPr/>
          <a:lstStyle/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1809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65E-A324-4C9A-BE64-EFF08EB492FB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6275" y="2060575"/>
            <a:ext cx="8640762" cy="4429125"/>
          </a:xfrm>
        </p:spPr>
        <p:txBody>
          <a:bodyPr/>
          <a:lstStyle/>
          <a:p>
            <a:pPr lvl="0"/>
            <a:endParaRPr lang="it-IT" dirty="0"/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A4E093-361F-4C37-B47B-B067A8415F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2060575"/>
            <a:ext cx="2601668" cy="4429125"/>
          </a:xfrm>
        </p:spPr>
        <p:txBody>
          <a:bodyPr/>
          <a:lstStyle>
            <a:lvl1pPr marL="342900" indent="-342900">
              <a:buAutoNum type="arabicPeriod"/>
              <a:defRPr b="1"/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/>
              <a:t>ipsum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70807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Ogget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2060576"/>
            <a:ext cx="11522075" cy="4146550"/>
          </a:xfrm>
          <a:noFill/>
        </p:spPr>
        <p:txBody>
          <a:bodyPr/>
          <a:lstStyle/>
          <a:p>
            <a:pPr lvl="0"/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700E3-5230-4D4A-8565-77FB59EFE9A9}" type="datetime1">
              <a:rPr lang="it-IT" smtClean="0"/>
              <a:t>20/01/2026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6924BD38-C241-45AE-9D16-9EE806C407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11522076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47021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tes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Inserire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5949-D8D6-4B52-B468-D3EDAF70DA28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1C0D3E2E-2AFC-47C5-ADBC-3E40FCEC1C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2060575"/>
            <a:ext cx="8640763" cy="44291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1598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Inserire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9774-4355-43EE-BA86-2F317376FF7A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9B8341C8-2CFC-44BF-90C6-72E69DB888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16275" y="2060575"/>
            <a:ext cx="8640762" cy="3997325"/>
          </a:xfrm>
          <a:noFill/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 dirty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B32F2C4-840A-465D-B8D3-9DE2BF3FC6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16275" y="6207125"/>
            <a:ext cx="5232400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3577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sfondo colore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2060576"/>
            <a:ext cx="11522075" cy="4146550"/>
          </a:xfrm>
          <a:noFill/>
        </p:spPr>
        <p:txBody>
          <a:bodyPr/>
          <a:lstStyle>
            <a:lvl1pPr>
              <a:defRPr/>
            </a:lvl1pPr>
          </a:lstStyle>
          <a:p>
            <a:pPr lvl="0"/>
            <a:r>
              <a:rPr lang="it-IT" dirty="0"/>
              <a:t>Inserire testo / oggetto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A7AB-CF38-48C8-825C-4900B9049743}" type="datetime1">
              <a:rPr lang="it-IT" smtClean="0"/>
              <a:t>20/01/2026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8E2D0317-6708-4FD8-83CC-23BC5CFD3B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5232400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36660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20316" y="0"/>
            <a:ext cx="6471684" cy="6489700"/>
          </a:xfrm>
          <a:noFill/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12652"/>
            <a:ext cx="4705298" cy="84008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C2E55-04E4-4040-BBCF-292881F5504A}" type="datetime1">
              <a:rPr lang="it-IT" smtClean="0"/>
              <a:t>20/01/2026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4705299" cy="4429125"/>
          </a:xfrm>
        </p:spPr>
        <p:txBody>
          <a:bodyPr/>
          <a:lstStyle/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02292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BF578AB8-DC96-4BF4-9F97-D7DA508CF3E9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6120" y="812652"/>
            <a:ext cx="4355183" cy="5677048"/>
          </a:xfrm>
          <a:noFill/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192" y="812652"/>
            <a:ext cx="6021846" cy="84008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07C6-E320-4825-A3AE-584ACF8B0035}" type="datetime1">
              <a:rPr lang="it-IT" smtClean="0"/>
              <a:t>20/01/2026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4BEA68D2-13D7-4E83-8B67-3B7D4B3EB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35192" y="2060575"/>
            <a:ext cx="6021846" cy="44291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400492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120000" cy="84008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9D0F-09FB-467A-8131-06D57284CD1D}" type="datetime1">
              <a:rPr lang="it-IT" smtClean="0"/>
              <a:t>20/01/2026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6120000" cy="4429125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 dirty="0"/>
          </a:p>
        </p:txBody>
      </p:sp>
      <p:sp>
        <p:nvSpPr>
          <p:cNvPr id="13" name="Segnaposto contenuto 10">
            <a:extLst>
              <a:ext uri="{FF2B5EF4-FFF2-40B4-BE49-F238E27FC236}">
                <a16:creationId xmlns:a16="http://schemas.microsoft.com/office/drawing/2014/main" id="{981C075B-AD13-4CF1-8E6F-EFDE96C167B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331075" y="800100"/>
            <a:ext cx="4525963" cy="5407025"/>
          </a:xfrm>
          <a:noFill/>
        </p:spPr>
        <p:txBody>
          <a:bodyPr/>
          <a:lstStyle/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3932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2"/>
            <a:ext cx="6120000" cy="84008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6FCD-544A-4653-8558-323C9078E631}" type="datetime1">
              <a:rPr lang="it-IT" smtClean="0"/>
              <a:t>20/01/2026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6120000" cy="4429125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 dirty="0"/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347D0FBD-1472-468C-84DA-540ADCCDF1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31074" y="313810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 dirty="0"/>
          </a:p>
        </p:txBody>
      </p:sp>
      <p:sp>
        <p:nvSpPr>
          <p:cNvPr id="18" name="Segnaposto contenuto 10">
            <a:extLst>
              <a:ext uri="{FF2B5EF4-FFF2-40B4-BE49-F238E27FC236}">
                <a16:creationId xmlns:a16="http://schemas.microsoft.com/office/drawing/2014/main" id="{AE654BE7-A245-475E-B2C5-2D5C0EA5B87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331075" y="3867807"/>
            <a:ext cx="4525963" cy="2339318"/>
          </a:xfrm>
          <a:noFill/>
        </p:spPr>
        <p:txBody>
          <a:bodyPr/>
          <a:lstStyle/>
          <a:p>
            <a:pPr lvl="0"/>
            <a:endParaRPr lang="it-IT" dirty="0"/>
          </a:p>
        </p:txBody>
      </p:sp>
      <p:sp>
        <p:nvSpPr>
          <p:cNvPr id="19" name="Segnaposto contenuto 10">
            <a:extLst>
              <a:ext uri="{FF2B5EF4-FFF2-40B4-BE49-F238E27FC236}">
                <a16:creationId xmlns:a16="http://schemas.microsoft.com/office/drawing/2014/main" id="{C7FD40C7-9A42-4239-BA55-CFB8D43C528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331075" y="799291"/>
            <a:ext cx="4525963" cy="2339318"/>
          </a:xfrm>
          <a:noFill/>
        </p:spPr>
        <p:txBody>
          <a:bodyPr/>
          <a:lstStyle/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6210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73488-6EF2-4FB5-845A-16FBBFEE6816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6"/>
            <a:ext cx="8640000" cy="761756"/>
          </a:xfrm>
        </p:spPr>
        <p:txBody>
          <a:bodyPr/>
          <a:lstStyle/>
          <a:p>
            <a:pPr lvl="0"/>
            <a:endParaRPr lang="it-IT" dirty="0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48807E7-406F-46DA-A7FF-0C975258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3234752"/>
            <a:ext cx="5423999" cy="2972374"/>
          </a:xfrm>
          <a:noFill/>
        </p:spPr>
        <p:txBody>
          <a:bodyPr/>
          <a:lstStyle/>
          <a:p>
            <a:pPr lvl="0"/>
            <a:endParaRPr lang="it-IT" dirty="0"/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833CAB92-1558-4E15-91D9-6F44CDF88B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5423999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B0E56354-394B-4187-9F9C-3EC0AFE56E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463201" y="3234752"/>
            <a:ext cx="5423999" cy="2972374"/>
          </a:xfrm>
          <a:noFill/>
        </p:spPr>
        <p:txBody>
          <a:bodyPr/>
          <a:lstStyle/>
          <a:p>
            <a:pPr lvl="0"/>
            <a:endParaRPr lang="it-IT" dirty="0"/>
          </a:p>
        </p:txBody>
      </p:sp>
      <p:sp>
        <p:nvSpPr>
          <p:cNvPr id="11" name="Segnaposto testo 11">
            <a:extLst>
              <a:ext uri="{FF2B5EF4-FFF2-40B4-BE49-F238E27FC236}">
                <a16:creationId xmlns:a16="http://schemas.microsoft.com/office/drawing/2014/main" id="{FA2B0198-8A91-4620-9797-8C5B2DBFE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63200" y="6207125"/>
            <a:ext cx="5423999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9731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A8E8E9-CF16-408F-8D84-BC8F1DE0AE3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15427" y="709127"/>
            <a:ext cx="5780573" cy="578057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2313FBE5-F1C4-4411-B0A7-486C895AF990}"/>
              </a:ext>
            </a:extLst>
          </p:cNvPr>
          <p:cNvSpPr/>
          <p:nvPr userDrawn="1"/>
        </p:nvSpPr>
        <p:spPr>
          <a:xfrm>
            <a:off x="6096000" y="709127"/>
            <a:ext cx="5780573" cy="578057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B317-B23C-49B8-A0A7-F10781A18A7F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4950" y="2887039"/>
            <a:ext cx="3400570" cy="210620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 dirty="0"/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58D49EF2-5E35-412C-A5DD-2A6A604FC3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79792" y="2887039"/>
            <a:ext cx="3400570" cy="210620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4950" y="2239963"/>
            <a:ext cx="3400425" cy="441325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16" name="Segnaposto testo 9">
            <a:extLst>
              <a:ext uri="{FF2B5EF4-FFF2-40B4-BE49-F238E27FC236}">
                <a16:creationId xmlns:a16="http://schemas.microsoft.com/office/drawing/2014/main" id="{8BDCC8A1-442C-4890-928F-754837D40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79792" y="2239963"/>
            <a:ext cx="3400425" cy="441325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843128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44EC5-A990-44CB-BA10-9CC072B56D37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2887039"/>
            <a:ext cx="3100906" cy="36026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643" y="2239963"/>
            <a:ext cx="3100906" cy="441325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66F22CF-5ACC-4388-97EC-12C4EE01108C}"/>
              </a:ext>
            </a:extLst>
          </p:cNvPr>
          <p:cNvCxnSpPr>
            <a:cxnSpLocks/>
          </p:cNvCxnSpPr>
          <p:nvPr userDrawn="1"/>
        </p:nvCxnSpPr>
        <p:spPr>
          <a:xfrm>
            <a:off x="4176734" y="0"/>
            <a:ext cx="0" cy="6858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15425" y="2637317"/>
            <a:ext cx="3846583" cy="384658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D84D0C32-E3D9-4D1A-A1D4-7F677E11FBAC}"/>
              </a:ext>
            </a:extLst>
          </p:cNvPr>
          <p:cNvSpPr/>
          <p:nvPr userDrawn="1"/>
        </p:nvSpPr>
        <p:spPr>
          <a:xfrm>
            <a:off x="8017486" y="2637317"/>
            <a:ext cx="3846583" cy="384658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20D1A14F-932F-4BEF-AF0D-4A0850EA5900}"/>
              </a:ext>
            </a:extLst>
          </p:cNvPr>
          <p:cNvSpPr/>
          <p:nvPr userDrawn="1"/>
        </p:nvSpPr>
        <p:spPr>
          <a:xfrm>
            <a:off x="4175247" y="2637317"/>
            <a:ext cx="3846583" cy="384658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175274AF-A160-4234-871A-D8C5B0DF011E}"/>
              </a:ext>
            </a:extLst>
          </p:cNvPr>
          <p:cNvCxnSpPr>
            <a:cxnSpLocks/>
          </p:cNvCxnSpPr>
          <p:nvPr userDrawn="1"/>
        </p:nvCxnSpPr>
        <p:spPr>
          <a:xfrm>
            <a:off x="8027765" y="0"/>
            <a:ext cx="0" cy="6858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gnaposto testo 6">
            <a:extLst>
              <a:ext uri="{FF2B5EF4-FFF2-40B4-BE49-F238E27FC236}">
                <a16:creationId xmlns:a16="http://schemas.microsoft.com/office/drawing/2014/main" id="{0C5DB749-C07B-4557-8B31-C5C44DDA99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1535" y="2887039"/>
            <a:ext cx="3100906" cy="36026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31" name="Segnaposto testo 9">
            <a:extLst>
              <a:ext uri="{FF2B5EF4-FFF2-40B4-BE49-F238E27FC236}">
                <a16:creationId xmlns:a16="http://schemas.microsoft.com/office/drawing/2014/main" id="{642D4EEC-FAC4-4C46-BB9F-3BA54588E4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1558" y="2239963"/>
            <a:ext cx="3100906" cy="441325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2" name="Segnaposto testo 6">
            <a:extLst>
              <a:ext uri="{FF2B5EF4-FFF2-40B4-BE49-F238E27FC236}">
                <a16:creationId xmlns:a16="http://schemas.microsoft.com/office/drawing/2014/main" id="{8310C023-87FF-43B4-9428-3E2652BDB8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76189" y="2887039"/>
            <a:ext cx="3100906" cy="36026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33" name="Segnaposto testo 9">
            <a:extLst>
              <a:ext uri="{FF2B5EF4-FFF2-40B4-BE49-F238E27FC236}">
                <a16:creationId xmlns:a16="http://schemas.microsoft.com/office/drawing/2014/main" id="{0FB8C8B8-D4F7-4669-8F3B-F456A7ECF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76212" y="2239963"/>
            <a:ext cx="3100906" cy="441325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630994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4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78CF-1F55-4DB9-A4F7-4FD6053B6DC4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2887039"/>
            <a:ext cx="2503621" cy="36026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643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A8E8E9-CF16-408F-8D84-BC8F1DE0AE3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24549"/>
            <a:ext cx="0" cy="6882549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39511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66F22CF-5ACC-4388-97EC-12C4EE01108C}"/>
              </a:ext>
            </a:extLst>
          </p:cNvPr>
          <p:cNvCxnSpPr>
            <a:cxnSpLocks/>
          </p:cNvCxnSpPr>
          <p:nvPr userDrawn="1"/>
        </p:nvCxnSpPr>
        <p:spPr>
          <a:xfrm>
            <a:off x="3216275" y="-24549"/>
            <a:ext cx="0" cy="6882549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9EF945E3-FEE2-40A3-82CD-7811BFD88746}"/>
              </a:ext>
            </a:extLst>
          </p:cNvPr>
          <p:cNvCxnSpPr>
            <a:cxnSpLocks/>
          </p:cNvCxnSpPr>
          <p:nvPr userDrawn="1"/>
        </p:nvCxnSpPr>
        <p:spPr>
          <a:xfrm>
            <a:off x="8969803" y="-24549"/>
            <a:ext cx="0" cy="6882549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egnaposto testo 6">
            <a:extLst>
              <a:ext uri="{FF2B5EF4-FFF2-40B4-BE49-F238E27FC236}">
                <a16:creationId xmlns:a16="http://schemas.microsoft.com/office/drawing/2014/main" id="{4DA14660-E3DE-4786-8628-2BDB623B542F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4561" y="2887039"/>
            <a:ext cx="2503621" cy="36026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22" name="Segnaposto testo 9">
            <a:extLst>
              <a:ext uri="{FF2B5EF4-FFF2-40B4-BE49-F238E27FC236}">
                <a16:creationId xmlns:a16="http://schemas.microsoft.com/office/drawing/2014/main" id="{38062A0A-3D00-4F2E-A78C-520C7A8814B0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414584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3" name="Segnaposto testo 6">
            <a:extLst>
              <a:ext uri="{FF2B5EF4-FFF2-40B4-BE49-F238E27FC236}">
                <a16:creationId xmlns:a16="http://schemas.microsoft.com/office/drawing/2014/main" id="{3FA3924C-C133-43D4-9617-6E7333D996FB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250229" y="2887039"/>
            <a:ext cx="2503621" cy="36026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24" name="Segnaposto testo 9">
            <a:extLst>
              <a:ext uri="{FF2B5EF4-FFF2-40B4-BE49-F238E27FC236}">
                <a16:creationId xmlns:a16="http://schemas.microsoft.com/office/drawing/2014/main" id="{4F293ED1-7D64-49B8-81A0-5F5FB11E3592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250252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34980872-E501-48A5-8B13-B7016BEEE029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9157816" y="2887039"/>
            <a:ext cx="2503621" cy="36026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26" name="Segnaposto testo 9">
            <a:extLst>
              <a:ext uri="{FF2B5EF4-FFF2-40B4-BE49-F238E27FC236}">
                <a16:creationId xmlns:a16="http://schemas.microsoft.com/office/drawing/2014/main" id="{7359F283-E0AA-4871-A428-A58C8F3F0AA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9157839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01D1BE9-9067-430D-A318-4BC1405F006A}"/>
              </a:ext>
            </a:extLst>
          </p:cNvPr>
          <p:cNvSpPr/>
          <p:nvPr userDrawn="1"/>
        </p:nvSpPr>
        <p:spPr>
          <a:xfrm>
            <a:off x="3223388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88114C5-1930-4807-8B76-4565A5FFB9B5}"/>
              </a:ext>
            </a:extLst>
          </p:cNvPr>
          <p:cNvSpPr/>
          <p:nvPr userDrawn="1"/>
        </p:nvSpPr>
        <p:spPr>
          <a:xfrm>
            <a:off x="6089680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E2D6333A-9B81-4325-A926-22F5E403D75F}"/>
              </a:ext>
            </a:extLst>
          </p:cNvPr>
          <p:cNvSpPr/>
          <p:nvPr userDrawn="1"/>
        </p:nvSpPr>
        <p:spPr>
          <a:xfrm>
            <a:off x="8964764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234104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25365"/>
            <a:ext cx="11522075" cy="4222679"/>
          </a:xfrm>
        </p:spPr>
        <p:txBody>
          <a:bodyPr anchor="ctr"/>
          <a:lstStyle>
            <a:lvl1pPr>
              <a:defRPr sz="4000" b="0"/>
            </a:lvl1pPr>
          </a:lstStyle>
          <a:p>
            <a:r>
              <a:rPr lang="it-IT" dirty="0"/>
              <a:t>Inserire testo in evidenza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1175-0BDB-4570-9901-1FEE92313E20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-1366766" y="1325366"/>
            <a:ext cx="4222679" cy="4222679"/>
          </a:xfrm>
          <a:prstGeom prst="ellipse">
            <a:avLst/>
          </a:prstGeom>
          <a:noFill/>
          <a:ln w="9525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0" y="1325366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0" y="5548045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2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771" y="1775639"/>
            <a:ext cx="10664455" cy="2317896"/>
          </a:xfrm>
          <a:ln>
            <a:noFill/>
          </a:ln>
        </p:spPr>
        <p:txBody>
          <a:bodyPr anchor="b"/>
          <a:lstStyle>
            <a:lvl1pPr algn="ctr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testo in evidenza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5DBD59-E49A-410D-9A41-B7E57745B87E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3233122" y="757946"/>
            <a:ext cx="5725755" cy="5725755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0" y="729943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0" y="648371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FA801A9-B23D-4656-8AFA-3E413EDFA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588" y="4536830"/>
            <a:ext cx="10664825" cy="6019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56124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 / Titolo / Docente  |  00. 00. 0000">
            <a:extLst>
              <a:ext uri="{FF2B5EF4-FFF2-40B4-BE49-F238E27FC236}">
                <a16:creationId xmlns:a16="http://schemas.microsoft.com/office/drawing/2014/main" id="{99FF4CA3-BA67-0511-3FE3-11769597A30E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rgbClr val="FFFFFF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3" name="Titolo 5">
            <a:extLst>
              <a:ext uri="{FF2B5EF4-FFF2-40B4-BE49-F238E27FC236}">
                <a16:creationId xmlns:a16="http://schemas.microsoft.com/office/drawing/2014/main" id="{5660309B-4011-4FF9-71E9-5BC51EF56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2853390"/>
            <a:ext cx="6768473" cy="2324100"/>
          </a:xfrm>
        </p:spPr>
        <p:txBody>
          <a:bodyPr lIns="0" tIns="360000" rIns="0" bIns="0" anchor="t"/>
          <a:lstStyle>
            <a:lvl1pPr>
              <a:defRPr lang="it-IT" dirty="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titolo</a:t>
            </a:r>
          </a:p>
        </p:txBody>
      </p:sp>
      <p:sp>
        <p:nvSpPr>
          <p:cNvPr id="5" name="Cerchio">
            <a:extLst>
              <a:ext uri="{FF2B5EF4-FFF2-40B4-BE49-F238E27FC236}">
                <a16:creationId xmlns:a16="http://schemas.microsoft.com/office/drawing/2014/main" id="{5F9D2376-F92C-70CC-7E4A-0F195E3EA543}"/>
              </a:ext>
            </a:extLst>
          </p:cNvPr>
          <p:cNvSpPr/>
          <p:nvPr userDrawn="1"/>
        </p:nvSpPr>
        <p:spPr>
          <a:xfrm rot="10800000">
            <a:off x="7559558" y="-1156784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6" name="Cerchio">
            <a:extLst>
              <a:ext uri="{FF2B5EF4-FFF2-40B4-BE49-F238E27FC236}">
                <a16:creationId xmlns:a16="http://schemas.microsoft.com/office/drawing/2014/main" id="{A0BCD1D3-187F-0F81-48F7-30E4CB14B416}"/>
              </a:ext>
            </a:extLst>
          </p:cNvPr>
          <p:cNvSpPr/>
          <p:nvPr userDrawn="1"/>
        </p:nvSpPr>
        <p:spPr>
          <a:xfrm>
            <a:off x="7559558" y="2853390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B7B3A0A-3A1B-42DE-B9AE-23655BAD374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0"/>
            <a:ext cx="0" cy="685800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11F552-5459-4905-94FE-760C82166453}"/>
              </a:ext>
            </a:extLst>
          </p:cNvPr>
          <p:cNvCxnSpPr>
            <a:cxnSpLocks/>
          </p:cNvCxnSpPr>
          <p:nvPr userDrawn="1"/>
        </p:nvCxnSpPr>
        <p:spPr>
          <a:xfrm>
            <a:off x="7559558" y="0"/>
            <a:ext cx="0" cy="685800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FD66269-DBF7-485E-8F18-092A9E8BABC4}"/>
              </a:ext>
            </a:extLst>
          </p:cNvPr>
          <p:cNvCxnSpPr>
            <a:cxnSpLocks/>
          </p:cNvCxnSpPr>
          <p:nvPr userDrawn="1"/>
        </p:nvCxnSpPr>
        <p:spPr>
          <a:xfrm>
            <a:off x="0" y="2853390"/>
            <a:ext cx="12192000" cy="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96DD59D6-FA30-4BBD-9323-B5B02742E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8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e 35">
            <a:extLst>
              <a:ext uri="{FF2B5EF4-FFF2-40B4-BE49-F238E27FC236}">
                <a16:creationId xmlns:a16="http://schemas.microsoft.com/office/drawing/2014/main" id="{51B3AA80-97EC-50CB-4FE0-29FF43A159AF}"/>
              </a:ext>
            </a:extLst>
          </p:cNvPr>
          <p:cNvSpPr/>
          <p:nvPr userDrawn="1"/>
        </p:nvSpPr>
        <p:spPr>
          <a:xfrm>
            <a:off x="2609" y="-5443635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100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0F01AAD3-5366-6929-C4BA-2E51CD3F31D4}"/>
              </a:ext>
            </a:extLst>
          </p:cNvPr>
          <p:cNvSpPr/>
          <p:nvPr userDrawn="1"/>
        </p:nvSpPr>
        <p:spPr>
          <a:xfrm rot="19314398">
            <a:off x="2609" y="5468773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0301"/>
                </a:schemeClr>
              </a:gs>
              <a:gs pos="82000">
                <a:schemeClr val="accent3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Linea">
            <a:extLst>
              <a:ext uri="{FF2B5EF4-FFF2-40B4-BE49-F238E27FC236}">
                <a16:creationId xmlns:a16="http://schemas.microsoft.com/office/drawing/2014/main" id="{2889EA06-D03D-AD37-B610-762B18DC9D96}"/>
              </a:ext>
            </a:extLst>
          </p:cNvPr>
          <p:cNvSpPr/>
          <p:nvPr userDrawn="1"/>
        </p:nvSpPr>
        <p:spPr>
          <a:xfrm rot="10800000" flipH="1">
            <a:off x="10895557" y="1057"/>
            <a:ext cx="1" cy="6855889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 dirty="0">
              <a:latin typeface="Manrope" pitchFamily="2" charset="0"/>
            </a:endParaRPr>
          </a:p>
        </p:txBody>
      </p:sp>
      <p:sp>
        <p:nvSpPr>
          <p:cNvPr id="11" name="Linea">
            <a:extLst>
              <a:ext uri="{FF2B5EF4-FFF2-40B4-BE49-F238E27FC236}">
                <a16:creationId xmlns:a16="http://schemas.microsoft.com/office/drawing/2014/main" id="{1C01A8D5-245E-26D8-2ECA-82D4764647AF}"/>
              </a:ext>
            </a:extLst>
          </p:cNvPr>
          <p:cNvSpPr/>
          <p:nvPr userDrawn="1"/>
        </p:nvSpPr>
        <p:spPr>
          <a:xfrm rot="10800000">
            <a:off x="-3064" y="5436688"/>
            <a:ext cx="12198128" cy="1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 dirty="0">
              <a:latin typeface="Manrope" pitchFamily="2" charset="0"/>
            </a:endParaRPr>
          </a:p>
        </p:txBody>
      </p:sp>
      <p:sp>
        <p:nvSpPr>
          <p:cNvPr id="24" name="Titolo 5">
            <a:extLst>
              <a:ext uri="{FF2B5EF4-FFF2-40B4-BE49-F238E27FC236}">
                <a16:creationId xmlns:a16="http://schemas.microsoft.com/office/drawing/2014/main" id="{7A3C36CA-9D5D-490C-3E31-571AF7EC5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2970949"/>
            <a:ext cx="10297220" cy="1979441"/>
          </a:xfrm>
          <a:prstGeom prst="rect">
            <a:avLst/>
          </a:prstGeom>
        </p:spPr>
        <p:txBody>
          <a:bodyPr lIns="0" tIns="360000" rIns="0" bIns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titolo</a:t>
            </a:r>
            <a:br>
              <a:rPr lang="it-IT" dirty="0"/>
            </a:br>
            <a:r>
              <a:rPr lang="it-IT" dirty="0"/>
              <a:t>Presentazione</a:t>
            </a:r>
          </a:p>
        </p:txBody>
      </p:sp>
      <p:sp>
        <p:nvSpPr>
          <p:cNvPr id="25" name="Tema / Titolo / Docente  |  00. 00. 0000">
            <a:extLst>
              <a:ext uri="{FF2B5EF4-FFF2-40B4-BE49-F238E27FC236}">
                <a16:creationId xmlns:a16="http://schemas.microsoft.com/office/drawing/2014/main" id="{A4A528BE-7AD2-13B5-15DC-484153FDCFB1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606C5E15-79D3-4DBA-B886-216D082B12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01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gradFill>
          <a:gsLst>
            <a:gs pos="68000">
              <a:schemeClr val="accent3"/>
            </a:gs>
            <a:gs pos="100000">
              <a:schemeClr val="bg1"/>
            </a:gs>
            <a:gs pos="27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">
            <a:extLst>
              <a:ext uri="{FF2B5EF4-FFF2-40B4-BE49-F238E27FC236}">
                <a16:creationId xmlns:a16="http://schemas.microsoft.com/office/drawing/2014/main" id="{5904BB58-3F14-9C88-2C51-FC53AD74ECDB}"/>
              </a:ext>
            </a:extLst>
          </p:cNvPr>
          <p:cNvSpPr/>
          <p:nvPr userDrawn="1"/>
        </p:nvSpPr>
        <p:spPr>
          <a:xfrm>
            <a:off x="-13900" y="5890078"/>
            <a:ext cx="12220596" cy="978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35" name="Raggruppa">
            <a:extLst>
              <a:ext uri="{FF2B5EF4-FFF2-40B4-BE49-F238E27FC236}">
                <a16:creationId xmlns:a16="http://schemas.microsoft.com/office/drawing/2014/main" id="{10E0AFDC-3F66-1CFB-E987-27D87A91FC3E}"/>
              </a:ext>
            </a:extLst>
          </p:cNvPr>
          <p:cNvGrpSpPr/>
          <p:nvPr userDrawn="1"/>
        </p:nvGrpSpPr>
        <p:grpSpPr>
          <a:xfrm>
            <a:off x="2454737" y="6112429"/>
            <a:ext cx="774301" cy="512711"/>
            <a:chOff x="55030" y="-1"/>
            <a:chExt cx="1548497" cy="1025419"/>
          </a:xfrm>
        </p:grpSpPr>
        <p:sp>
          <p:nvSpPr>
            <p:cNvPr id="36" name="Dicitura 01">
              <a:extLst>
                <a:ext uri="{FF2B5EF4-FFF2-40B4-BE49-F238E27FC236}">
                  <a16:creationId xmlns:a16="http://schemas.microsoft.com/office/drawing/2014/main" id="{10073F5C-DD0F-6D06-4F37-6385373A1AB7}"/>
                </a:ext>
              </a:extLst>
            </p:cNvPr>
            <p:cNvSpPr txBox="1"/>
            <p:nvPr/>
          </p:nvSpPr>
          <p:spPr>
            <a:xfrm>
              <a:off x="55030" y="102541"/>
              <a:ext cx="1391313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dirty="0" err="1">
                  <a:latin typeface="Manrope" pitchFamily="2" charset="0"/>
                </a:rPr>
                <a:t>Dicitura</a:t>
              </a:r>
              <a:r>
                <a:rPr sz="900" b="1" dirty="0">
                  <a:latin typeface="Manrope" pitchFamily="2" charset="0"/>
                </a:rPr>
                <a:t> 01</a:t>
              </a:r>
            </a:p>
          </p:txBody>
        </p:sp>
        <p:sp>
          <p:nvSpPr>
            <p:cNvPr id="37" name="Linea">
              <a:extLst>
                <a:ext uri="{FF2B5EF4-FFF2-40B4-BE49-F238E27FC236}">
                  <a16:creationId xmlns:a16="http://schemas.microsoft.com/office/drawing/2014/main" id="{A2D93BEA-CDAB-B761-4314-7A4D96C6DDEB}"/>
                </a:ext>
              </a:extLst>
            </p:cNvPr>
            <p:cNvSpPr/>
            <p:nvPr/>
          </p:nvSpPr>
          <p:spPr>
            <a:xfrm flipV="1">
              <a:off x="1603526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 dirty="0">
                <a:latin typeface="Manrope" pitchFamily="2" charset="0"/>
              </a:endParaRPr>
            </a:p>
          </p:txBody>
        </p:sp>
      </p:grpSp>
      <p:grpSp>
        <p:nvGrpSpPr>
          <p:cNvPr id="38" name="Raggruppa">
            <a:extLst>
              <a:ext uri="{FF2B5EF4-FFF2-40B4-BE49-F238E27FC236}">
                <a16:creationId xmlns:a16="http://schemas.microsoft.com/office/drawing/2014/main" id="{56DCEED6-6F0E-CCBB-2279-C15A32771039}"/>
              </a:ext>
            </a:extLst>
          </p:cNvPr>
          <p:cNvGrpSpPr/>
          <p:nvPr userDrawn="1"/>
        </p:nvGrpSpPr>
        <p:grpSpPr>
          <a:xfrm>
            <a:off x="6067169" y="6112429"/>
            <a:ext cx="790072" cy="512711"/>
            <a:chOff x="70058" y="-1"/>
            <a:chExt cx="1580036" cy="1025419"/>
          </a:xfrm>
        </p:grpSpPr>
        <p:sp>
          <p:nvSpPr>
            <p:cNvPr id="39" name="Dicitura 02">
              <a:extLst>
                <a:ext uri="{FF2B5EF4-FFF2-40B4-BE49-F238E27FC236}">
                  <a16:creationId xmlns:a16="http://schemas.microsoft.com/office/drawing/2014/main" id="{65F304E2-7E9C-B774-6D16-605FDABF18A3}"/>
                </a:ext>
              </a:extLst>
            </p:cNvPr>
            <p:cNvSpPr txBox="1"/>
            <p:nvPr/>
          </p:nvSpPr>
          <p:spPr>
            <a:xfrm>
              <a:off x="70058" y="102541"/>
              <a:ext cx="1426577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dirty="0" err="1">
                  <a:latin typeface="Manrope" pitchFamily="2" charset="0"/>
                </a:rPr>
                <a:t>Dicitura</a:t>
              </a:r>
              <a:r>
                <a:rPr sz="900" b="1" dirty="0">
                  <a:latin typeface="Manrope" pitchFamily="2" charset="0"/>
                </a:rPr>
                <a:t> 02</a:t>
              </a:r>
            </a:p>
          </p:txBody>
        </p:sp>
        <p:sp>
          <p:nvSpPr>
            <p:cNvPr id="40" name="Linea">
              <a:extLst>
                <a:ext uri="{FF2B5EF4-FFF2-40B4-BE49-F238E27FC236}">
                  <a16:creationId xmlns:a16="http://schemas.microsoft.com/office/drawing/2014/main" id="{0D3513D8-03DF-07FB-C95C-75AB43EA944A}"/>
                </a:ext>
              </a:extLst>
            </p:cNvPr>
            <p:cNvSpPr/>
            <p:nvPr/>
          </p:nvSpPr>
          <p:spPr>
            <a:xfrm flipV="1">
              <a:off x="1650093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 dirty="0">
                <a:latin typeface="Manrope" pitchFamily="2" charset="0"/>
              </a:endParaRPr>
            </a:p>
          </p:txBody>
        </p:sp>
      </p:grpSp>
      <p:grpSp>
        <p:nvGrpSpPr>
          <p:cNvPr id="41" name="Raggruppa">
            <a:extLst>
              <a:ext uri="{FF2B5EF4-FFF2-40B4-BE49-F238E27FC236}">
                <a16:creationId xmlns:a16="http://schemas.microsoft.com/office/drawing/2014/main" id="{EE4E4B32-B5F8-3F30-EE38-C91ECC226870}"/>
              </a:ext>
            </a:extLst>
          </p:cNvPr>
          <p:cNvGrpSpPr/>
          <p:nvPr userDrawn="1"/>
        </p:nvGrpSpPr>
        <p:grpSpPr>
          <a:xfrm>
            <a:off x="7104925" y="6152538"/>
            <a:ext cx="979517" cy="453158"/>
            <a:chOff x="60711" y="0"/>
            <a:chExt cx="1958904" cy="906313"/>
          </a:xfrm>
        </p:grpSpPr>
        <p:sp>
          <p:nvSpPr>
            <p:cNvPr id="42" name="Logo">
              <a:extLst>
                <a:ext uri="{FF2B5EF4-FFF2-40B4-BE49-F238E27FC236}">
                  <a16:creationId xmlns:a16="http://schemas.microsoft.com/office/drawing/2014/main" id="{01F912F9-4CA7-0309-4362-4AE504D449B0}"/>
                </a:ext>
              </a:extLst>
            </p:cNvPr>
            <p:cNvSpPr txBox="1"/>
            <p:nvPr/>
          </p:nvSpPr>
          <p:spPr>
            <a:xfrm>
              <a:off x="996967" y="135122"/>
              <a:ext cx="1022648" cy="636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>
                  <a:solidFill>
                    <a:srgbClr val="D5D5D5"/>
                  </a:solidFill>
                </a:defRPr>
              </a:lvl1pPr>
            </a:lstStyle>
            <a:p>
              <a:r>
                <a:rPr sz="1400" dirty="0">
                  <a:latin typeface="Manrope" pitchFamily="2" charset="0"/>
                </a:rPr>
                <a:t>Logo</a:t>
              </a:r>
            </a:p>
          </p:txBody>
        </p:sp>
        <p:sp>
          <p:nvSpPr>
            <p:cNvPr id="43" name="Poligono">
              <a:extLst>
                <a:ext uri="{FF2B5EF4-FFF2-40B4-BE49-F238E27FC236}">
                  <a16:creationId xmlns:a16="http://schemas.microsoft.com/office/drawing/2014/main" id="{1A2CDB77-2460-9096-7611-C3E31F3AB038}"/>
                </a:ext>
              </a:extLst>
            </p:cNvPr>
            <p:cNvSpPr/>
            <p:nvPr/>
          </p:nvSpPr>
          <p:spPr>
            <a:xfrm>
              <a:off x="60711" y="0"/>
              <a:ext cx="784891" cy="90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412756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Raggruppa">
            <a:extLst>
              <a:ext uri="{FF2B5EF4-FFF2-40B4-BE49-F238E27FC236}">
                <a16:creationId xmlns:a16="http://schemas.microsoft.com/office/drawing/2014/main" id="{E9DC9E88-ED5E-A322-CEF0-BA8C7730DD17}"/>
              </a:ext>
            </a:extLst>
          </p:cNvPr>
          <p:cNvGrpSpPr/>
          <p:nvPr userDrawn="1"/>
        </p:nvGrpSpPr>
        <p:grpSpPr>
          <a:xfrm>
            <a:off x="3478116" y="6125021"/>
            <a:ext cx="2345580" cy="508191"/>
            <a:chOff x="-1" y="0"/>
            <a:chExt cx="4690853" cy="1016381"/>
          </a:xfrm>
        </p:grpSpPr>
        <p:grpSp>
          <p:nvGrpSpPr>
            <p:cNvPr id="45" name="Raggruppa">
              <a:extLst>
                <a:ext uri="{FF2B5EF4-FFF2-40B4-BE49-F238E27FC236}">
                  <a16:creationId xmlns:a16="http://schemas.microsoft.com/office/drawing/2014/main" id="{0AAB06EA-BD72-204E-2331-5ADA684865D6}"/>
                </a:ext>
              </a:extLst>
            </p:cNvPr>
            <p:cNvGrpSpPr/>
            <p:nvPr/>
          </p:nvGrpSpPr>
          <p:grpSpPr>
            <a:xfrm>
              <a:off x="-1" y="0"/>
              <a:ext cx="2032314" cy="1016381"/>
              <a:chOff x="0" y="0"/>
              <a:chExt cx="2032313" cy="1016380"/>
            </a:xfrm>
          </p:grpSpPr>
          <p:sp>
            <p:nvSpPr>
              <p:cNvPr id="49" name="Logo">
                <a:extLst>
                  <a:ext uri="{FF2B5EF4-FFF2-40B4-BE49-F238E27FC236}">
                    <a16:creationId xmlns:a16="http://schemas.microsoft.com/office/drawing/2014/main" id="{E2A46CB7-6126-FAF4-587A-DD55008E4667}"/>
                  </a:ext>
                </a:extLst>
              </p:cNvPr>
              <p:cNvSpPr txBox="1"/>
              <p:nvPr/>
            </p:nvSpPr>
            <p:spPr>
              <a:xfrm>
                <a:off x="1009665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 dirty="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50" name="Triangolo">
                <a:extLst>
                  <a:ext uri="{FF2B5EF4-FFF2-40B4-BE49-F238E27FC236}">
                    <a16:creationId xmlns:a16="http://schemas.microsoft.com/office/drawing/2014/main" id="{49414913-DF6E-3124-0037-4413F4E9DBA5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Raggruppa">
              <a:extLst>
                <a:ext uri="{FF2B5EF4-FFF2-40B4-BE49-F238E27FC236}">
                  <a16:creationId xmlns:a16="http://schemas.microsoft.com/office/drawing/2014/main" id="{2E1D7F5F-ABE7-5DE5-9E9B-5271458A6691}"/>
                </a:ext>
              </a:extLst>
            </p:cNvPr>
            <p:cNvGrpSpPr/>
            <p:nvPr/>
          </p:nvGrpSpPr>
          <p:grpSpPr>
            <a:xfrm>
              <a:off x="2519023" y="0"/>
              <a:ext cx="2171829" cy="1016381"/>
              <a:chOff x="0" y="0"/>
              <a:chExt cx="2171826" cy="1016380"/>
            </a:xfrm>
          </p:grpSpPr>
          <p:sp>
            <p:nvSpPr>
              <p:cNvPr id="47" name="Logo">
                <a:extLst>
                  <a:ext uri="{FF2B5EF4-FFF2-40B4-BE49-F238E27FC236}">
                    <a16:creationId xmlns:a16="http://schemas.microsoft.com/office/drawing/2014/main" id="{FB792114-1E03-A8B8-F9F6-0BD1E522B30C}"/>
                  </a:ext>
                </a:extLst>
              </p:cNvPr>
              <p:cNvSpPr txBox="1"/>
              <p:nvPr/>
            </p:nvSpPr>
            <p:spPr>
              <a:xfrm>
                <a:off x="1149178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 dirty="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48" name="Rettangolo arrotondato">
                <a:extLst>
                  <a:ext uri="{FF2B5EF4-FFF2-40B4-BE49-F238E27FC236}">
                    <a16:creationId xmlns:a16="http://schemas.microsoft.com/office/drawing/2014/main" id="{51D7D47B-E4A9-117B-C867-618C7B14273D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prstGeom prst="roundRect">
                <a:avLst>
                  <a:gd name="adj" fmla="val 9826"/>
                </a:avLst>
              </a:pr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D5D5D5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2" name="Titolo 5">
            <a:extLst>
              <a:ext uri="{FF2B5EF4-FFF2-40B4-BE49-F238E27FC236}">
                <a16:creationId xmlns:a16="http://schemas.microsoft.com/office/drawing/2014/main" id="{FAD942FF-4AE3-BA4F-0D20-F8F6CDA75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1873912"/>
            <a:ext cx="6894110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titolo</a:t>
            </a:r>
          </a:p>
        </p:txBody>
      </p:sp>
      <p:sp>
        <p:nvSpPr>
          <p:cNvPr id="53" name="Tema / Titolo / Docente  |  00. 00. 0000">
            <a:extLst>
              <a:ext uri="{FF2B5EF4-FFF2-40B4-BE49-F238E27FC236}">
                <a16:creationId xmlns:a16="http://schemas.microsoft.com/office/drawing/2014/main" id="{21E39AD4-D17D-DA18-8557-753A1598EDBB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494701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31" name="Cerchio">
            <a:extLst>
              <a:ext uri="{FF2B5EF4-FFF2-40B4-BE49-F238E27FC236}">
                <a16:creationId xmlns:a16="http://schemas.microsoft.com/office/drawing/2014/main" id="{A9903704-CFC7-476C-9852-F48766C69614}"/>
              </a:ext>
            </a:extLst>
          </p:cNvPr>
          <p:cNvSpPr/>
          <p:nvPr userDrawn="1"/>
        </p:nvSpPr>
        <p:spPr>
          <a:xfrm rot="10800000">
            <a:off x="7559558" y="-2130267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32" name="Cerchio">
            <a:extLst>
              <a:ext uri="{FF2B5EF4-FFF2-40B4-BE49-F238E27FC236}">
                <a16:creationId xmlns:a16="http://schemas.microsoft.com/office/drawing/2014/main" id="{A6756836-4360-4832-91E9-DC1FED362D89}"/>
              </a:ext>
            </a:extLst>
          </p:cNvPr>
          <p:cNvSpPr/>
          <p:nvPr userDrawn="1"/>
        </p:nvSpPr>
        <p:spPr>
          <a:xfrm>
            <a:off x="7559558" y="1879907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21D738D7-7E88-4675-A0EF-E3BAD613F5D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-973483"/>
            <a:ext cx="0" cy="685800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F9039971-82D3-47A9-A22B-57F88091170C}"/>
              </a:ext>
            </a:extLst>
          </p:cNvPr>
          <p:cNvCxnSpPr>
            <a:cxnSpLocks/>
          </p:cNvCxnSpPr>
          <p:nvPr userDrawn="1"/>
        </p:nvCxnSpPr>
        <p:spPr>
          <a:xfrm>
            <a:off x="7559558" y="-973483"/>
            <a:ext cx="0" cy="685800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diritto 54">
            <a:extLst>
              <a:ext uri="{FF2B5EF4-FFF2-40B4-BE49-F238E27FC236}">
                <a16:creationId xmlns:a16="http://schemas.microsoft.com/office/drawing/2014/main" id="{646E7D75-6D87-4823-9E66-BDAA6D07313A}"/>
              </a:ext>
            </a:extLst>
          </p:cNvPr>
          <p:cNvCxnSpPr>
            <a:cxnSpLocks/>
          </p:cNvCxnSpPr>
          <p:nvPr userDrawn="1"/>
        </p:nvCxnSpPr>
        <p:spPr>
          <a:xfrm>
            <a:off x="0" y="1879907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Elemento grafico 26">
            <a:extLst>
              <a:ext uri="{FF2B5EF4-FFF2-40B4-BE49-F238E27FC236}">
                <a16:creationId xmlns:a16="http://schemas.microsoft.com/office/drawing/2014/main" id="{FF578DCB-6598-48EB-937C-141C852D44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412" y="6129055"/>
            <a:ext cx="1548000" cy="50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00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">
    <p:bg>
      <p:bgPr>
        <a:gradFill>
          <a:gsLst>
            <a:gs pos="100000">
              <a:srgbClr val="8795A8"/>
            </a:gs>
            <a:gs pos="27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0F18E289-8097-CB41-B2E0-E50D794D361D}"/>
              </a:ext>
            </a:extLst>
          </p:cNvPr>
          <p:cNvSpPr/>
          <p:nvPr userDrawn="1"/>
        </p:nvSpPr>
        <p:spPr>
          <a:xfrm>
            <a:off x="2609" y="1424519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5412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sp>
        <p:nvSpPr>
          <p:cNvPr id="34" name="t">
            <a:extLst>
              <a:ext uri="{FF2B5EF4-FFF2-40B4-BE49-F238E27FC236}">
                <a16:creationId xmlns:a16="http://schemas.microsoft.com/office/drawing/2014/main" id="{5904BB58-3F14-9C88-2C51-FC53AD74ECDB}"/>
              </a:ext>
            </a:extLst>
          </p:cNvPr>
          <p:cNvSpPr/>
          <p:nvPr userDrawn="1"/>
        </p:nvSpPr>
        <p:spPr>
          <a:xfrm>
            <a:off x="-13900" y="5890078"/>
            <a:ext cx="12220596" cy="978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35" name="Raggruppa">
            <a:extLst>
              <a:ext uri="{FF2B5EF4-FFF2-40B4-BE49-F238E27FC236}">
                <a16:creationId xmlns:a16="http://schemas.microsoft.com/office/drawing/2014/main" id="{10E0AFDC-3F66-1CFB-E987-27D87A91FC3E}"/>
              </a:ext>
            </a:extLst>
          </p:cNvPr>
          <p:cNvGrpSpPr/>
          <p:nvPr userDrawn="1"/>
        </p:nvGrpSpPr>
        <p:grpSpPr>
          <a:xfrm>
            <a:off x="2454737" y="6112429"/>
            <a:ext cx="774301" cy="512711"/>
            <a:chOff x="55030" y="-1"/>
            <a:chExt cx="1548497" cy="1025419"/>
          </a:xfrm>
        </p:grpSpPr>
        <p:sp>
          <p:nvSpPr>
            <p:cNvPr id="36" name="Dicitura 01">
              <a:extLst>
                <a:ext uri="{FF2B5EF4-FFF2-40B4-BE49-F238E27FC236}">
                  <a16:creationId xmlns:a16="http://schemas.microsoft.com/office/drawing/2014/main" id="{10073F5C-DD0F-6D06-4F37-6385373A1AB7}"/>
                </a:ext>
              </a:extLst>
            </p:cNvPr>
            <p:cNvSpPr txBox="1"/>
            <p:nvPr/>
          </p:nvSpPr>
          <p:spPr>
            <a:xfrm>
              <a:off x="55030" y="102541"/>
              <a:ext cx="1391313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dirty="0" err="1">
                  <a:latin typeface="Manrope" pitchFamily="2" charset="0"/>
                </a:rPr>
                <a:t>Dicitura</a:t>
              </a:r>
              <a:r>
                <a:rPr sz="900" b="1" dirty="0">
                  <a:latin typeface="Manrope" pitchFamily="2" charset="0"/>
                </a:rPr>
                <a:t> 01</a:t>
              </a:r>
            </a:p>
          </p:txBody>
        </p:sp>
        <p:sp>
          <p:nvSpPr>
            <p:cNvPr id="37" name="Linea">
              <a:extLst>
                <a:ext uri="{FF2B5EF4-FFF2-40B4-BE49-F238E27FC236}">
                  <a16:creationId xmlns:a16="http://schemas.microsoft.com/office/drawing/2014/main" id="{A2D93BEA-CDAB-B761-4314-7A4D96C6DDEB}"/>
                </a:ext>
              </a:extLst>
            </p:cNvPr>
            <p:cNvSpPr/>
            <p:nvPr/>
          </p:nvSpPr>
          <p:spPr>
            <a:xfrm flipV="1">
              <a:off x="1603526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 dirty="0">
                <a:latin typeface="Manrope" pitchFamily="2" charset="0"/>
              </a:endParaRPr>
            </a:p>
          </p:txBody>
        </p:sp>
      </p:grpSp>
      <p:grpSp>
        <p:nvGrpSpPr>
          <p:cNvPr id="38" name="Raggruppa">
            <a:extLst>
              <a:ext uri="{FF2B5EF4-FFF2-40B4-BE49-F238E27FC236}">
                <a16:creationId xmlns:a16="http://schemas.microsoft.com/office/drawing/2014/main" id="{56DCEED6-6F0E-CCBB-2279-C15A32771039}"/>
              </a:ext>
            </a:extLst>
          </p:cNvPr>
          <p:cNvGrpSpPr/>
          <p:nvPr userDrawn="1"/>
        </p:nvGrpSpPr>
        <p:grpSpPr>
          <a:xfrm>
            <a:off x="6067169" y="6112429"/>
            <a:ext cx="790072" cy="512711"/>
            <a:chOff x="70058" y="-1"/>
            <a:chExt cx="1580036" cy="1025419"/>
          </a:xfrm>
        </p:grpSpPr>
        <p:sp>
          <p:nvSpPr>
            <p:cNvPr id="39" name="Dicitura 02">
              <a:extLst>
                <a:ext uri="{FF2B5EF4-FFF2-40B4-BE49-F238E27FC236}">
                  <a16:creationId xmlns:a16="http://schemas.microsoft.com/office/drawing/2014/main" id="{65F304E2-7E9C-B774-6D16-605FDABF18A3}"/>
                </a:ext>
              </a:extLst>
            </p:cNvPr>
            <p:cNvSpPr txBox="1"/>
            <p:nvPr/>
          </p:nvSpPr>
          <p:spPr>
            <a:xfrm>
              <a:off x="70058" y="102541"/>
              <a:ext cx="1426577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dirty="0" err="1">
                  <a:latin typeface="Manrope" pitchFamily="2" charset="0"/>
                </a:rPr>
                <a:t>Dicitura</a:t>
              </a:r>
              <a:r>
                <a:rPr sz="900" b="1" dirty="0">
                  <a:latin typeface="Manrope" pitchFamily="2" charset="0"/>
                </a:rPr>
                <a:t> 02</a:t>
              </a:r>
            </a:p>
          </p:txBody>
        </p:sp>
        <p:sp>
          <p:nvSpPr>
            <p:cNvPr id="40" name="Linea">
              <a:extLst>
                <a:ext uri="{FF2B5EF4-FFF2-40B4-BE49-F238E27FC236}">
                  <a16:creationId xmlns:a16="http://schemas.microsoft.com/office/drawing/2014/main" id="{0D3513D8-03DF-07FB-C95C-75AB43EA944A}"/>
                </a:ext>
              </a:extLst>
            </p:cNvPr>
            <p:cNvSpPr/>
            <p:nvPr/>
          </p:nvSpPr>
          <p:spPr>
            <a:xfrm flipV="1">
              <a:off x="1650093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 dirty="0">
                <a:latin typeface="Manrope" pitchFamily="2" charset="0"/>
              </a:endParaRPr>
            </a:p>
          </p:txBody>
        </p:sp>
      </p:grpSp>
      <p:grpSp>
        <p:nvGrpSpPr>
          <p:cNvPr id="41" name="Raggruppa">
            <a:extLst>
              <a:ext uri="{FF2B5EF4-FFF2-40B4-BE49-F238E27FC236}">
                <a16:creationId xmlns:a16="http://schemas.microsoft.com/office/drawing/2014/main" id="{EE4E4B32-B5F8-3F30-EE38-C91ECC226870}"/>
              </a:ext>
            </a:extLst>
          </p:cNvPr>
          <p:cNvGrpSpPr/>
          <p:nvPr userDrawn="1"/>
        </p:nvGrpSpPr>
        <p:grpSpPr>
          <a:xfrm>
            <a:off x="7104925" y="6152538"/>
            <a:ext cx="979517" cy="453158"/>
            <a:chOff x="60711" y="0"/>
            <a:chExt cx="1958904" cy="906313"/>
          </a:xfrm>
        </p:grpSpPr>
        <p:sp>
          <p:nvSpPr>
            <p:cNvPr id="42" name="Logo">
              <a:extLst>
                <a:ext uri="{FF2B5EF4-FFF2-40B4-BE49-F238E27FC236}">
                  <a16:creationId xmlns:a16="http://schemas.microsoft.com/office/drawing/2014/main" id="{01F912F9-4CA7-0309-4362-4AE504D449B0}"/>
                </a:ext>
              </a:extLst>
            </p:cNvPr>
            <p:cNvSpPr txBox="1"/>
            <p:nvPr/>
          </p:nvSpPr>
          <p:spPr>
            <a:xfrm>
              <a:off x="996967" y="135122"/>
              <a:ext cx="1022648" cy="636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>
                  <a:solidFill>
                    <a:srgbClr val="D5D5D5"/>
                  </a:solidFill>
                </a:defRPr>
              </a:lvl1pPr>
            </a:lstStyle>
            <a:p>
              <a:r>
                <a:rPr sz="1400" dirty="0">
                  <a:latin typeface="Manrope" pitchFamily="2" charset="0"/>
                </a:rPr>
                <a:t>Logo</a:t>
              </a:r>
            </a:p>
          </p:txBody>
        </p:sp>
        <p:sp>
          <p:nvSpPr>
            <p:cNvPr id="43" name="Poligono">
              <a:extLst>
                <a:ext uri="{FF2B5EF4-FFF2-40B4-BE49-F238E27FC236}">
                  <a16:creationId xmlns:a16="http://schemas.microsoft.com/office/drawing/2014/main" id="{1A2CDB77-2460-9096-7611-C3E31F3AB038}"/>
                </a:ext>
              </a:extLst>
            </p:cNvPr>
            <p:cNvSpPr/>
            <p:nvPr/>
          </p:nvSpPr>
          <p:spPr>
            <a:xfrm>
              <a:off x="60711" y="0"/>
              <a:ext cx="784891" cy="90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412756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Raggruppa">
            <a:extLst>
              <a:ext uri="{FF2B5EF4-FFF2-40B4-BE49-F238E27FC236}">
                <a16:creationId xmlns:a16="http://schemas.microsoft.com/office/drawing/2014/main" id="{E9DC9E88-ED5E-A322-CEF0-BA8C7730DD17}"/>
              </a:ext>
            </a:extLst>
          </p:cNvPr>
          <p:cNvGrpSpPr/>
          <p:nvPr userDrawn="1"/>
        </p:nvGrpSpPr>
        <p:grpSpPr>
          <a:xfrm>
            <a:off x="3478116" y="6125021"/>
            <a:ext cx="2345580" cy="508191"/>
            <a:chOff x="-1" y="0"/>
            <a:chExt cx="4690853" cy="1016381"/>
          </a:xfrm>
        </p:grpSpPr>
        <p:grpSp>
          <p:nvGrpSpPr>
            <p:cNvPr id="45" name="Raggruppa">
              <a:extLst>
                <a:ext uri="{FF2B5EF4-FFF2-40B4-BE49-F238E27FC236}">
                  <a16:creationId xmlns:a16="http://schemas.microsoft.com/office/drawing/2014/main" id="{0AAB06EA-BD72-204E-2331-5ADA684865D6}"/>
                </a:ext>
              </a:extLst>
            </p:cNvPr>
            <p:cNvGrpSpPr/>
            <p:nvPr/>
          </p:nvGrpSpPr>
          <p:grpSpPr>
            <a:xfrm>
              <a:off x="-1" y="0"/>
              <a:ext cx="2032314" cy="1016381"/>
              <a:chOff x="0" y="0"/>
              <a:chExt cx="2032313" cy="1016380"/>
            </a:xfrm>
          </p:grpSpPr>
          <p:sp>
            <p:nvSpPr>
              <p:cNvPr id="49" name="Logo">
                <a:extLst>
                  <a:ext uri="{FF2B5EF4-FFF2-40B4-BE49-F238E27FC236}">
                    <a16:creationId xmlns:a16="http://schemas.microsoft.com/office/drawing/2014/main" id="{E2A46CB7-6126-FAF4-587A-DD55008E4667}"/>
                  </a:ext>
                </a:extLst>
              </p:cNvPr>
              <p:cNvSpPr txBox="1"/>
              <p:nvPr/>
            </p:nvSpPr>
            <p:spPr>
              <a:xfrm>
                <a:off x="1009665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 dirty="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50" name="Triangolo">
                <a:extLst>
                  <a:ext uri="{FF2B5EF4-FFF2-40B4-BE49-F238E27FC236}">
                    <a16:creationId xmlns:a16="http://schemas.microsoft.com/office/drawing/2014/main" id="{49414913-DF6E-3124-0037-4413F4E9DBA5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Raggruppa">
              <a:extLst>
                <a:ext uri="{FF2B5EF4-FFF2-40B4-BE49-F238E27FC236}">
                  <a16:creationId xmlns:a16="http://schemas.microsoft.com/office/drawing/2014/main" id="{2E1D7F5F-ABE7-5DE5-9E9B-5271458A6691}"/>
                </a:ext>
              </a:extLst>
            </p:cNvPr>
            <p:cNvGrpSpPr/>
            <p:nvPr/>
          </p:nvGrpSpPr>
          <p:grpSpPr>
            <a:xfrm>
              <a:off x="2519023" y="0"/>
              <a:ext cx="2171829" cy="1016381"/>
              <a:chOff x="0" y="0"/>
              <a:chExt cx="2171826" cy="1016380"/>
            </a:xfrm>
          </p:grpSpPr>
          <p:sp>
            <p:nvSpPr>
              <p:cNvPr id="47" name="Logo">
                <a:extLst>
                  <a:ext uri="{FF2B5EF4-FFF2-40B4-BE49-F238E27FC236}">
                    <a16:creationId xmlns:a16="http://schemas.microsoft.com/office/drawing/2014/main" id="{FB792114-1E03-A8B8-F9F6-0BD1E522B30C}"/>
                  </a:ext>
                </a:extLst>
              </p:cNvPr>
              <p:cNvSpPr txBox="1"/>
              <p:nvPr/>
            </p:nvSpPr>
            <p:spPr>
              <a:xfrm>
                <a:off x="1149178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 dirty="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48" name="Rettangolo arrotondato">
                <a:extLst>
                  <a:ext uri="{FF2B5EF4-FFF2-40B4-BE49-F238E27FC236}">
                    <a16:creationId xmlns:a16="http://schemas.microsoft.com/office/drawing/2014/main" id="{51D7D47B-E4A9-117B-C867-618C7B14273D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prstGeom prst="roundRect">
                <a:avLst>
                  <a:gd name="adj" fmla="val 9826"/>
                </a:avLst>
              </a:pr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D5D5D5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2" name="Titolo 5">
            <a:extLst>
              <a:ext uri="{FF2B5EF4-FFF2-40B4-BE49-F238E27FC236}">
                <a16:creationId xmlns:a16="http://schemas.microsoft.com/office/drawing/2014/main" id="{FAD942FF-4AE3-BA4F-0D20-F8F6CDA75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1873912"/>
            <a:ext cx="10986218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titolo</a:t>
            </a:r>
          </a:p>
        </p:txBody>
      </p:sp>
      <p:sp>
        <p:nvSpPr>
          <p:cNvPr id="53" name="Tema / Titolo / Docente  |  00. 00. 0000">
            <a:extLst>
              <a:ext uri="{FF2B5EF4-FFF2-40B4-BE49-F238E27FC236}">
                <a16:creationId xmlns:a16="http://schemas.microsoft.com/office/drawing/2014/main" id="{21E39AD4-D17D-DA18-8557-753A1598EDBB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494701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62" name="Linea">
            <a:extLst>
              <a:ext uri="{FF2B5EF4-FFF2-40B4-BE49-F238E27FC236}">
                <a16:creationId xmlns:a16="http://schemas.microsoft.com/office/drawing/2014/main" id="{54CC51DA-C723-F8DB-C158-F298D04F09C3}"/>
              </a:ext>
            </a:extLst>
          </p:cNvPr>
          <p:cNvSpPr/>
          <p:nvPr userDrawn="1"/>
        </p:nvSpPr>
        <p:spPr>
          <a:xfrm>
            <a:off x="0" y="1416971"/>
            <a:ext cx="121927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3" name="Linea">
            <a:extLst>
              <a:ext uri="{FF2B5EF4-FFF2-40B4-BE49-F238E27FC236}">
                <a16:creationId xmlns:a16="http://schemas.microsoft.com/office/drawing/2014/main" id="{212AA810-2E06-6DB2-CF2D-E8B825DA18E6}"/>
              </a:ext>
            </a:extLst>
          </p:cNvPr>
          <p:cNvSpPr/>
          <p:nvPr userDrawn="1"/>
        </p:nvSpPr>
        <p:spPr>
          <a:xfrm rot="10800000" flipH="1">
            <a:off x="10895557" y="-1590"/>
            <a:ext cx="1" cy="6855889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 dirty="0">
              <a:latin typeface="Manrope" pitchFamily="2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1526C403-D8EF-49F4-AE98-8D0CC36DA1EF}"/>
              </a:ext>
            </a:extLst>
          </p:cNvPr>
          <p:cNvSpPr/>
          <p:nvPr userDrawn="1"/>
        </p:nvSpPr>
        <p:spPr>
          <a:xfrm>
            <a:off x="2609" y="-9470299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5412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pic>
        <p:nvPicPr>
          <p:cNvPr id="27" name="Elemento grafico 26">
            <a:extLst>
              <a:ext uri="{FF2B5EF4-FFF2-40B4-BE49-F238E27FC236}">
                <a16:creationId xmlns:a16="http://schemas.microsoft.com/office/drawing/2014/main" id="{73E11A02-42E0-4BB1-B98B-BE09A4A6F5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412" y="6129055"/>
            <a:ext cx="1548000" cy="50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67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a">
            <a:extLst>
              <a:ext uri="{FF2B5EF4-FFF2-40B4-BE49-F238E27FC236}">
                <a16:creationId xmlns:a16="http://schemas.microsoft.com/office/drawing/2014/main" id="{06A5565B-3792-761F-D5E8-89E83049F337}"/>
              </a:ext>
            </a:extLst>
          </p:cNvPr>
          <p:cNvSpPr/>
          <p:nvPr userDrawn="1"/>
        </p:nvSpPr>
        <p:spPr>
          <a:xfrm>
            <a:off x="0" y="3429000"/>
            <a:ext cx="12192795" cy="0"/>
          </a:xfrm>
          <a:prstGeom prst="line">
            <a:avLst/>
          </a:prstGeom>
          <a:ln w="6350">
            <a:solidFill>
              <a:srgbClr val="102C53">
                <a:alpha val="50000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2" name="Linea">
            <a:extLst>
              <a:ext uri="{FF2B5EF4-FFF2-40B4-BE49-F238E27FC236}">
                <a16:creationId xmlns:a16="http://schemas.microsoft.com/office/drawing/2014/main" id="{39CEE595-3918-20DF-0A93-E1BE36E4BCF4}"/>
              </a:ext>
            </a:extLst>
          </p:cNvPr>
          <p:cNvSpPr/>
          <p:nvPr userDrawn="1"/>
        </p:nvSpPr>
        <p:spPr>
          <a:xfrm flipV="1">
            <a:off x="11566815" y="15448"/>
            <a:ext cx="0" cy="6827108"/>
          </a:xfrm>
          <a:prstGeom prst="line">
            <a:avLst/>
          </a:prstGeom>
          <a:ln w="6350">
            <a:solidFill>
              <a:srgbClr val="102C53">
                <a:alpha val="50000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3" name="Linea">
            <a:extLst>
              <a:ext uri="{FF2B5EF4-FFF2-40B4-BE49-F238E27FC236}">
                <a16:creationId xmlns:a16="http://schemas.microsoft.com/office/drawing/2014/main" id="{1FF15F9B-EC12-8E00-194B-C92BF9532474}"/>
              </a:ext>
            </a:extLst>
          </p:cNvPr>
          <p:cNvSpPr/>
          <p:nvPr userDrawn="1"/>
        </p:nvSpPr>
        <p:spPr>
          <a:xfrm flipV="1">
            <a:off x="7562733" y="15448"/>
            <a:ext cx="0" cy="6827108"/>
          </a:xfrm>
          <a:prstGeom prst="line">
            <a:avLst/>
          </a:prstGeom>
          <a:ln w="6350">
            <a:solidFill>
              <a:srgbClr val="102C53">
                <a:alpha val="50000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4" name="Tema / Titolo / Docente  |  00. 00. 0000">
            <a:extLst>
              <a:ext uri="{FF2B5EF4-FFF2-40B4-BE49-F238E27FC236}">
                <a16:creationId xmlns:a16="http://schemas.microsoft.com/office/drawing/2014/main" id="{1DCB0E58-CB34-9BB0-27A9-F358FEB81E9A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17" name="Titolo 5">
            <a:extLst>
              <a:ext uri="{FF2B5EF4-FFF2-40B4-BE49-F238E27FC236}">
                <a16:creationId xmlns:a16="http://schemas.microsoft.com/office/drawing/2014/main" id="{4DAF60AC-FCFA-4F79-8AA6-85AC61BFA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3429000"/>
            <a:ext cx="6953096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Inserire titolo</a:t>
            </a:r>
            <a:br>
              <a:rPr lang="it-IT" dirty="0"/>
            </a:br>
            <a:r>
              <a:rPr lang="it-IT" dirty="0"/>
              <a:t>Presentazione</a:t>
            </a:r>
          </a:p>
        </p:txBody>
      </p:sp>
      <p:sp>
        <p:nvSpPr>
          <p:cNvPr id="21" name="Cerchio">
            <a:extLst>
              <a:ext uri="{FF2B5EF4-FFF2-40B4-BE49-F238E27FC236}">
                <a16:creationId xmlns:a16="http://schemas.microsoft.com/office/drawing/2014/main" id="{6E7576C8-25DA-044B-E1DD-8104EE1A54CF}"/>
              </a:ext>
            </a:extLst>
          </p:cNvPr>
          <p:cNvSpPr/>
          <p:nvPr userDrawn="1"/>
        </p:nvSpPr>
        <p:spPr>
          <a:xfrm rot="5400000">
            <a:off x="7572787" y="-581302"/>
            <a:ext cx="4010172" cy="4010432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rgbClr val="8795A8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22" name="Cerchio">
            <a:extLst>
              <a:ext uri="{FF2B5EF4-FFF2-40B4-BE49-F238E27FC236}">
                <a16:creationId xmlns:a16="http://schemas.microsoft.com/office/drawing/2014/main" id="{30211EF7-C505-8055-D080-3F3D88BB6BE8}"/>
              </a:ext>
            </a:extLst>
          </p:cNvPr>
          <p:cNvSpPr/>
          <p:nvPr userDrawn="1"/>
        </p:nvSpPr>
        <p:spPr>
          <a:xfrm rot="16200000">
            <a:off x="7572787" y="3428871"/>
            <a:ext cx="4010172" cy="4010432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rgbClr val="8795A8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51B1F0B2-95BC-48D0-A4B9-DD912BE07B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559" y="557094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88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tudente-6.jpg">
            <a:extLst>
              <a:ext uri="{FF2B5EF4-FFF2-40B4-BE49-F238E27FC236}">
                <a16:creationId xmlns:a16="http://schemas.microsoft.com/office/drawing/2014/main" id="{DA0DDB76-F351-4164-94AE-C6D2D1E45F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8" b="7868"/>
          <a:stretch/>
        </p:blipFill>
        <p:spPr>
          <a:xfrm>
            <a:off x="1" y="-15446"/>
            <a:ext cx="12202569" cy="6873447"/>
          </a:xfrm>
          <a:prstGeom prst="rect">
            <a:avLst/>
          </a:prstGeom>
        </p:spPr>
      </p:pic>
      <p:sp>
        <p:nvSpPr>
          <p:cNvPr id="12" name="Rettangolo">
            <a:extLst>
              <a:ext uri="{FF2B5EF4-FFF2-40B4-BE49-F238E27FC236}">
                <a16:creationId xmlns:a16="http://schemas.microsoft.com/office/drawing/2014/main" id="{A66CE9DD-F14C-4A96-8D86-1FA07F6449E0}"/>
              </a:ext>
            </a:extLst>
          </p:cNvPr>
          <p:cNvSpPr/>
          <p:nvPr userDrawn="1"/>
        </p:nvSpPr>
        <p:spPr>
          <a:xfrm>
            <a:off x="0" y="0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2000">
                <a:srgbClr val="FFFFFF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accent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15448"/>
            <a:ext cx="0" cy="6827108"/>
          </a:xfrm>
          <a:prstGeom prst="line">
            <a:avLst/>
          </a:prstGeom>
          <a:ln w="6350">
            <a:solidFill>
              <a:schemeClr val="tx2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18900000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chemeClr val="accent3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lvl="0" algn="ctr" defTabSz="412756"/>
            <a:endParaRPr lang="it-IT" sz="1600" dirty="0">
              <a:solidFill>
                <a:srgbClr val="FFFFFF"/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3448466"/>
            <a:ext cx="6953096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Inserire titolo</a:t>
            </a:r>
            <a:br>
              <a:rPr lang="it-IT" dirty="0"/>
            </a:br>
            <a:r>
              <a:rPr lang="it-IT" dirty="0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FD1FC0B6-D466-4AA7-8BF6-E6C5BD1539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57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udente-6.jpg">
            <a:extLst>
              <a:ext uri="{FF2B5EF4-FFF2-40B4-BE49-F238E27FC236}">
                <a16:creationId xmlns:a16="http://schemas.microsoft.com/office/drawing/2014/main" id="{9A8088A1-BE02-A45C-F2B7-D9182C7D25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" t="901" r="14721" b="26146"/>
          <a:stretch/>
        </p:blipFill>
        <p:spPr>
          <a:xfrm>
            <a:off x="1" y="-15446"/>
            <a:ext cx="12202569" cy="6873447"/>
          </a:xfrm>
          <a:prstGeom prst="rect">
            <a:avLst/>
          </a:prstGeom>
        </p:spPr>
      </p:pic>
      <p:sp>
        <p:nvSpPr>
          <p:cNvPr id="13" name="Rettangolo">
            <a:extLst>
              <a:ext uri="{FF2B5EF4-FFF2-40B4-BE49-F238E27FC236}">
                <a16:creationId xmlns:a16="http://schemas.microsoft.com/office/drawing/2014/main" id="{C0958222-67A2-407E-B29D-7EAE366C03C4}"/>
              </a:ext>
            </a:extLst>
          </p:cNvPr>
          <p:cNvSpPr/>
          <p:nvPr userDrawn="1"/>
        </p:nvSpPr>
        <p:spPr>
          <a:xfrm>
            <a:off x="-9775" y="0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46000">
                <a:schemeClr val="accent1">
                  <a:alpha val="40000"/>
                </a:schemeClr>
              </a:gs>
              <a:gs pos="72000">
                <a:schemeClr val="accent1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15448"/>
            <a:ext cx="0" cy="6827108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 dirty="0">
              <a:latin typeface="Manrope" pitchFamily="2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20927104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9000">
                <a:schemeClr val="bg1">
                  <a:alpha val="40000"/>
                </a:scheme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900" dirty="0">
              <a:latin typeface="Manrope" pitchFamily="2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5" y="3448466"/>
            <a:ext cx="9719547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Inserire titolo</a:t>
            </a:r>
            <a:br>
              <a:rPr lang="it-IT" dirty="0"/>
            </a:br>
            <a:r>
              <a:rPr lang="it-IT" dirty="0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pic>
        <p:nvPicPr>
          <p:cNvPr id="20" name="Elemento grafico 19">
            <a:extLst>
              <a:ext uri="{FF2B5EF4-FFF2-40B4-BE49-F238E27FC236}">
                <a16:creationId xmlns:a16="http://schemas.microsoft.com/office/drawing/2014/main" id="{C25B4BF5-56C8-4835-8120-0EDA4A4098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42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inale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rchio">
            <a:extLst>
              <a:ext uri="{FF2B5EF4-FFF2-40B4-BE49-F238E27FC236}">
                <a16:creationId xmlns:a16="http://schemas.microsoft.com/office/drawing/2014/main" id="{5F9D2376-F92C-70CC-7E4A-0F195E3EA543}"/>
              </a:ext>
            </a:extLst>
          </p:cNvPr>
          <p:cNvSpPr/>
          <p:nvPr userDrawn="1"/>
        </p:nvSpPr>
        <p:spPr>
          <a:xfrm rot="10800000">
            <a:off x="7559558" y="-1156784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6" name="Cerchio">
            <a:extLst>
              <a:ext uri="{FF2B5EF4-FFF2-40B4-BE49-F238E27FC236}">
                <a16:creationId xmlns:a16="http://schemas.microsoft.com/office/drawing/2014/main" id="{A0BCD1D3-187F-0F81-48F7-30E4CB14B416}"/>
              </a:ext>
            </a:extLst>
          </p:cNvPr>
          <p:cNvSpPr/>
          <p:nvPr userDrawn="1"/>
        </p:nvSpPr>
        <p:spPr>
          <a:xfrm>
            <a:off x="7559559" y="2853390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B7B3A0A-3A1B-42DE-B9AE-23655BAD374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0"/>
            <a:ext cx="0" cy="685800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11F552-5459-4905-94FE-760C82166453}"/>
              </a:ext>
            </a:extLst>
          </p:cNvPr>
          <p:cNvCxnSpPr>
            <a:cxnSpLocks/>
          </p:cNvCxnSpPr>
          <p:nvPr userDrawn="1"/>
        </p:nvCxnSpPr>
        <p:spPr>
          <a:xfrm>
            <a:off x="7534019" y="0"/>
            <a:ext cx="0" cy="685800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FD66269-DBF7-485E-8F18-092A9E8BABC4}"/>
              </a:ext>
            </a:extLst>
          </p:cNvPr>
          <p:cNvCxnSpPr>
            <a:cxnSpLocks/>
          </p:cNvCxnSpPr>
          <p:nvPr userDrawn="1"/>
        </p:nvCxnSpPr>
        <p:spPr>
          <a:xfrm>
            <a:off x="0" y="2853390"/>
            <a:ext cx="12192000" cy="0"/>
          </a:xfrm>
          <a:prstGeom prst="line">
            <a:avLst/>
          </a:prstGeom>
          <a:ln w="635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1109DBD9-E7E8-4D94-8FA4-DE3F5B0CDE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0075" y="5231876"/>
            <a:ext cx="3866418" cy="1016547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Via</a:t>
            </a:r>
          </a:p>
          <a:p>
            <a:pPr lvl="0"/>
            <a:r>
              <a:rPr lang="it-IT" dirty="0"/>
              <a:t>T</a:t>
            </a:r>
          </a:p>
          <a:p>
            <a:pPr lvl="0"/>
            <a:r>
              <a:rPr lang="it-IT" dirty="0"/>
              <a:t>@ </a:t>
            </a:r>
          </a:p>
          <a:p>
            <a:pPr lvl="0"/>
            <a:r>
              <a:rPr lang="it-IT" dirty="0" err="1"/>
              <a:t>wwww</a:t>
            </a:r>
            <a:r>
              <a:rPr lang="it-IT" dirty="0"/>
              <a:t>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F23B4B4-BBE2-4A30-A8C2-C0000C21DCBE}"/>
              </a:ext>
            </a:extLst>
          </p:cNvPr>
          <p:cNvSpPr txBox="1"/>
          <p:nvPr userDrawn="1"/>
        </p:nvSpPr>
        <p:spPr>
          <a:xfrm>
            <a:off x="516329" y="4858475"/>
            <a:ext cx="3932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</a:rPr>
              <a:t>Contatti</a:t>
            </a:r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617515AB-8CBA-4526-8637-4BA0E0664E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00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2060575"/>
            <a:ext cx="11522075" cy="442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0"/>
            <a:r>
              <a:rPr lang="it-IT" dirty="0"/>
              <a:t>Secondo livello</a:t>
            </a:r>
          </a:p>
          <a:p>
            <a:pPr lvl="0"/>
            <a:r>
              <a:rPr lang="it-IT" dirty="0"/>
              <a:t>Terzo livello</a:t>
            </a:r>
          </a:p>
          <a:p>
            <a:pPr lvl="0"/>
            <a:r>
              <a:rPr lang="it-IT" dirty="0"/>
              <a:t>Quarto livello</a:t>
            </a:r>
          </a:p>
          <a:p>
            <a:pPr lvl="0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0DE2DC-DBA6-437E-BB4E-13D6007AE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8657455-BADF-41AC-B544-C922EC67292A}" type="datetime1">
              <a:rPr lang="it-IT" smtClean="0"/>
              <a:t>20/01/2026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393C94-ABEE-455B-B13B-0EB6402D3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16275" y="39688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/>
              <a:t>Titolo (inserire dal Tab Inserisci &gt; intestazione &gt; applica a tutte)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960919-4893-43E8-BAF3-C8C59F419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4538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2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680" r:id="rId3"/>
    <p:sldLayoutId id="2147483717" r:id="rId4"/>
    <p:sldLayoutId id="2147483681" r:id="rId5"/>
    <p:sldLayoutId id="2147483682" r:id="rId6"/>
    <p:sldLayoutId id="2147483719" r:id="rId7"/>
    <p:sldLayoutId id="2147483671" r:id="rId8"/>
    <p:sldLayoutId id="2147483726" r:id="rId9"/>
    <p:sldLayoutId id="2147483727" r:id="rId10"/>
    <p:sldLayoutId id="2147483662" r:id="rId11"/>
    <p:sldLayoutId id="2147483670" r:id="rId12"/>
    <p:sldLayoutId id="2147483720" r:id="rId13"/>
    <p:sldLayoutId id="2147483672" r:id="rId14"/>
    <p:sldLayoutId id="2147483677" r:id="rId15"/>
    <p:sldLayoutId id="2147483732" r:id="rId16"/>
    <p:sldLayoutId id="2147483721" r:id="rId17"/>
    <p:sldLayoutId id="2147483723" r:id="rId18"/>
    <p:sldLayoutId id="2147483724" r:id="rId19"/>
    <p:sldLayoutId id="2147483673" r:id="rId20"/>
    <p:sldLayoutId id="2147483674" r:id="rId21"/>
    <p:sldLayoutId id="2147483725" r:id="rId22"/>
    <p:sldLayoutId id="2147483675" r:id="rId23"/>
    <p:sldLayoutId id="2147483676" r:id="rId2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2026" userDrawn="1">
          <p15:clr>
            <a:srgbClr val="F26B43"/>
          </p15:clr>
        </p15:guide>
        <p15:guide id="4" pos="1799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orient="horz" pos="981" userDrawn="1">
          <p15:clr>
            <a:srgbClr val="F26B43"/>
          </p15:clr>
        </p15:guide>
        <p15:guide id="9" orient="horz" pos="504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2060575"/>
            <a:ext cx="11522075" cy="4429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06655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12" r:id="rId2"/>
    <p:sldLayoutId id="2147483705" r:id="rId3"/>
    <p:sldLayoutId id="2147483706" r:id="rId4"/>
    <p:sldLayoutId id="2147483709" r:id="rId5"/>
    <p:sldLayoutId id="2147483714" r:id="rId6"/>
    <p:sldLayoutId id="2147483729" r:id="rId7"/>
    <p:sldLayoutId id="2147483715" r:id="rId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2026" userDrawn="1">
          <p15:clr>
            <a:srgbClr val="F26B43"/>
          </p15:clr>
        </p15:guide>
        <p15:guide id="4" pos="1799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orient="horz" pos="981" userDrawn="1">
          <p15:clr>
            <a:srgbClr val="F26B43"/>
          </p15:clr>
        </p15:guide>
        <p15:guide id="9" orient="horz" pos="504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26BBB7E-2B72-48A5-B8AC-092CE1F3CB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0710" y="5929932"/>
            <a:ext cx="6954520" cy="379427"/>
          </a:xfrm>
        </p:spPr>
        <p:txBody>
          <a:bodyPr/>
          <a:lstStyle/>
          <a:p>
            <a:r>
              <a:rPr lang="it-IT" dirty="0"/>
              <a:t>Arindam Sharma – 11128421</a:t>
            </a:r>
          </a:p>
          <a:p>
            <a:r>
              <a:rPr lang="it-IT" dirty="0"/>
              <a:t>Riddhima Srivastava - 11128422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139C8332-124C-4AAA-8F96-961CED6E6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/>
              <a:t>DATA ANALYSIS FOR FUTURE TRANSPORTATION SYSTEMS</a:t>
            </a:r>
            <a:br>
              <a:rPr lang="it-IT" sz="3200" dirty="0"/>
            </a:br>
            <a:r>
              <a:rPr lang="it-IT" sz="2800" dirty="0"/>
              <a:t>PROJECT- BLIND ASSIGNMENT 1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1830380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78B982F-E308-6D5D-A72A-98C02023B490}"/>
              </a:ext>
            </a:extLst>
          </p:cNvPr>
          <p:cNvSpPr/>
          <p:nvPr/>
        </p:nvSpPr>
        <p:spPr>
          <a:xfrm>
            <a:off x="1" y="0"/>
            <a:ext cx="12192000" cy="1154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A5188E2-6BAE-4664-BB29-8EF9380E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519886"/>
            <a:ext cx="11522075" cy="84008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Contents 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2A2D0FD-B051-48A0-93B5-6A57326A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/>
          <a:lstStyle/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2</a:t>
            </a:fld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35842" name="Picture 2" descr="polimi-logo_centrato – Evaces 2023">
            <a:extLst>
              <a:ext uri="{FF2B5EF4-FFF2-40B4-BE49-F238E27FC236}">
                <a16:creationId xmlns:a16="http://schemas.microsoft.com/office/drawing/2014/main" id="{40ED96C3-2365-7504-9AD3-E926EFC28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5905" y="118861"/>
            <a:ext cx="1251610" cy="92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4" name="Rectangle 35843">
            <a:extLst>
              <a:ext uri="{FF2B5EF4-FFF2-40B4-BE49-F238E27FC236}">
                <a16:creationId xmlns:a16="http://schemas.microsoft.com/office/drawing/2014/main" id="{19BDBB03-4D88-A63E-EEA2-F4AB7CC9ED94}"/>
              </a:ext>
            </a:extLst>
          </p:cNvPr>
          <p:cNvSpPr/>
          <p:nvPr/>
        </p:nvSpPr>
        <p:spPr>
          <a:xfrm>
            <a:off x="0" y="1154430"/>
            <a:ext cx="12191999" cy="57035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845" name="Rectangle 35844">
            <a:extLst>
              <a:ext uri="{FF2B5EF4-FFF2-40B4-BE49-F238E27FC236}">
                <a16:creationId xmlns:a16="http://schemas.microsoft.com/office/drawing/2014/main" id="{72B32833-7A3E-571F-3158-96985CDF4D23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9F54A5CA-30E2-3C92-BF04-5BB5091E0E2F}"/>
              </a:ext>
            </a:extLst>
          </p:cNvPr>
          <p:cNvSpPr txBox="1">
            <a:spLocks/>
          </p:cNvSpPr>
          <p:nvPr/>
        </p:nvSpPr>
        <p:spPr>
          <a:xfrm>
            <a:off x="609280" y="1359969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AutoNum type="arabicPeriod"/>
            </a:pPr>
            <a:r>
              <a:rPr lang="it-IT" sz="2000" dirty="0"/>
              <a:t>INTRODUCTION</a:t>
            </a:r>
          </a:p>
          <a:p>
            <a:pPr marL="457200" indent="-457200">
              <a:buAutoNum type="arabicPeriod"/>
            </a:pPr>
            <a:r>
              <a:rPr lang="it-IT" sz="2000" dirty="0"/>
              <a:t>TASK 1 and TASK 2 – Max Speed and Braking</a:t>
            </a:r>
          </a:p>
          <a:p>
            <a:pPr marL="457200" indent="-457200">
              <a:buAutoNum type="arabicPeriod"/>
            </a:pPr>
            <a:r>
              <a:rPr lang="it-IT" sz="2000" dirty="0"/>
              <a:t>TASK 3 – Steering Correction Analysis</a:t>
            </a:r>
          </a:p>
          <a:p>
            <a:pPr marL="457200" indent="-457200">
              <a:buAutoNum type="arabicPeriod"/>
            </a:pPr>
            <a:r>
              <a:rPr lang="it-IT" sz="2000" dirty="0"/>
              <a:t>TASK 4 – Lateral Acceleration</a:t>
            </a:r>
          </a:p>
          <a:p>
            <a:pPr marL="457200" indent="-457200">
              <a:buAutoNum type="arabicPeriod"/>
            </a:pPr>
            <a:r>
              <a:rPr lang="it-IT" sz="2000" dirty="0"/>
              <a:t>TASK 5 – Gyro data correlation with Pitch and Roll</a:t>
            </a:r>
          </a:p>
          <a:p>
            <a:pPr marL="457200" indent="-457200">
              <a:buAutoNum type="arabicPeriod"/>
            </a:pPr>
            <a:r>
              <a:rPr lang="it-IT" sz="2000" dirty="0"/>
              <a:t>TASK 6 – Spatial Lag Identification</a:t>
            </a:r>
          </a:p>
          <a:p>
            <a:pPr marL="457200" indent="-457200">
              <a:buAutoNum type="arabicPeriod"/>
            </a:pPr>
            <a:r>
              <a:rPr lang="it-IT" sz="2000" dirty="0"/>
              <a:t>Conclusions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96080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D34749-4E22-4C51-8D56-875FBC98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67" y="1418313"/>
            <a:ext cx="8640763" cy="1299008"/>
          </a:xfrm>
        </p:spPr>
        <p:txBody>
          <a:bodyPr/>
          <a:lstStyle/>
          <a:p>
            <a:r>
              <a:rPr lang="it-IT" dirty="0"/>
              <a:t>Introduction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F06B510-81A8-4692-9B4B-F6E01CF5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3</a:t>
            </a:fld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1500C-A560-C2A8-630B-12756EF76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01</a:t>
            </a:r>
          </a:p>
        </p:txBody>
      </p:sp>
      <p:pic>
        <p:nvPicPr>
          <p:cNvPr id="1032" name="Picture 8" descr="Use links below to save image.">
            <a:extLst>
              <a:ext uri="{FF2B5EF4-FFF2-40B4-BE49-F238E27FC236}">
                <a16:creationId xmlns:a16="http://schemas.microsoft.com/office/drawing/2014/main" id="{112EF251-F244-C9BC-B1AF-824206E8F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3" y="1646264"/>
            <a:ext cx="843106" cy="84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366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5838-7D73-23F3-9DC1-83680AAA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C398C5AD-DA61-E794-8B7A-E3BBD9AA4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84" y="525269"/>
            <a:ext cx="4705298" cy="840083"/>
          </a:xfrm>
        </p:spPr>
        <p:txBody>
          <a:bodyPr/>
          <a:lstStyle/>
          <a:p>
            <a:r>
              <a:rPr lang="it-IT" sz="2800" dirty="0">
                <a:solidFill>
                  <a:schemeClr val="bg1"/>
                </a:solidFill>
              </a:rPr>
              <a:t>Strain History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42B3BE6-A1BA-0E11-7D2F-C0280283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4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D78314-2253-65A4-CF9D-437D5EA151D0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68BCBE-A6A7-2F64-2C88-5E5E87183479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A43CDB9D-8EBA-2FFA-02B6-A0B5792358A6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E18A3D7A-BACE-C991-5360-364F9346831A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79415682-FA6A-EA97-27EE-968FD1174C52}"/>
              </a:ext>
            </a:extLst>
          </p:cNvPr>
          <p:cNvSpPr txBox="1">
            <a:spLocks/>
          </p:cNvSpPr>
          <p:nvPr/>
        </p:nvSpPr>
        <p:spPr>
          <a:xfrm>
            <a:off x="334964" y="808073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INTRODUCTION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6047C064-45FD-CDE9-34FC-ACD1F8A05081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4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D54392DB-7E71-3AB6-CAEA-0D885E81CBA1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95BDB-51A9-06C1-6591-262E0384E554}"/>
              </a:ext>
            </a:extLst>
          </p:cNvPr>
          <p:cNvSpPr txBox="1"/>
          <p:nvPr/>
        </p:nvSpPr>
        <p:spPr>
          <a:xfrm>
            <a:off x="334964" y="1240677"/>
            <a:ext cx="56704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In the following assignment, we are provided with IMU and GPS for four datasets and we are tasked with performing 6 different tasks using this data.</a:t>
            </a:r>
          </a:p>
          <a:p>
            <a:pPr algn="just"/>
            <a:r>
              <a:rPr lang="en-IN" dirty="0"/>
              <a:t>For the first 5 tasks, we have performed single analysis on the datasets while splitting the workload.</a:t>
            </a:r>
          </a:p>
          <a:p>
            <a:pPr algn="just"/>
            <a:r>
              <a:rPr lang="en-IN" dirty="0"/>
              <a:t> The available data is as follows-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6C944A-FE17-DD69-065E-9EB13F080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302" y="1930960"/>
            <a:ext cx="5001323" cy="35437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392CD5-CBA7-2D1D-FAC7-DC791711E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4" y="3233858"/>
            <a:ext cx="2713036" cy="290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0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9204-CD0C-B8D9-50C6-0E5423B3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E50AA8-084F-101B-8D74-711758AF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67" y="1418313"/>
            <a:ext cx="8640763" cy="1299008"/>
          </a:xfrm>
        </p:spPr>
        <p:txBody>
          <a:bodyPr/>
          <a:lstStyle/>
          <a:p>
            <a:r>
              <a:rPr lang="it-IT" dirty="0"/>
              <a:t>Task 1 and Task 2</a:t>
            </a:r>
            <a:br>
              <a:rPr lang="it-IT" dirty="0"/>
            </a:br>
            <a:r>
              <a:rPr lang="it-IT" b="0" dirty="0"/>
              <a:t>Max Speed and Braking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E41D82-87D6-5447-1794-336EB773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5</a:t>
            </a:fld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BF973-96C1-C720-50EA-4E08A9E73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02</a:t>
            </a:r>
          </a:p>
        </p:txBody>
      </p:sp>
      <p:pic>
        <p:nvPicPr>
          <p:cNvPr id="1032" name="Picture 8" descr="Use links below to save image.">
            <a:extLst>
              <a:ext uri="{FF2B5EF4-FFF2-40B4-BE49-F238E27FC236}">
                <a16:creationId xmlns:a16="http://schemas.microsoft.com/office/drawing/2014/main" id="{52E9E167-710B-89D9-C33F-4C2124DE3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3" y="1646264"/>
            <a:ext cx="843106" cy="84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654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8E14-04C1-9FE7-B3A1-2AFE1D1A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2F7AB2-AB70-D448-277F-4C8EA73B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6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90985-EE5F-A0EE-4087-1D16FF686BD7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AD04E7-DA82-A35F-8F16-144740242CE9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FE86A1C5-BCCA-5FB5-EC57-DDB15834C137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AAB80E19-A2B0-1707-D472-F96A61AAF34A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31A550CE-9974-A5CB-BB62-9579FEA05863}"/>
              </a:ext>
            </a:extLst>
          </p:cNvPr>
          <p:cNvSpPr txBox="1">
            <a:spLocks/>
          </p:cNvSpPr>
          <p:nvPr/>
        </p:nvSpPr>
        <p:spPr>
          <a:xfrm>
            <a:off x="334964" y="808073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IMU AND GPS DATA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D6A33CC3-4A5A-5048-C0B7-67BB00BE5930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6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46437774-3A14-B5DA-1C80-E8FA05788CCD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74222-B7AF-A0D5-192F-153BC97C9A05}"/>
              </a:ext>
            </a:extLst>
          </p:cNvPr>
          <p:cNvSpPr txBox="1"/>
          <p:nvPr/>
        </p:nvSpPr>
        <p:spPr>
          <a:xfrm>
            <a:off x="209374" y="1286621"/>
            <a:ext cx="645205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We have been provided with IMU and GPS data. To carry out this task the data which will be utilised include-</a:t>
            </a:r>
          </a:p>
          <a:p>
            <a:pPr marL="342900" indent="-342900" algn="just">
              <a:buAutoNum type="alphaLcPeriod"/>
            </a:pPr>
            <a:r>
              <a:rPr lang="en-IN" dirty="0"/>
              <a:t>Accelerometer X (Longitudinal Acceleration)</a:t>
            </a:r>
          </a:p>
          <a:p>
            <a:pPr marL="342900" indent="-342900" algn="just">
              <a:buAutoNum type="alphaLcPeriod"/>
            </a:pPr>
            <a:r>
              <a:rPr lang="en-IN" dirty="0"/>
              <a:t>Latitude</a:t>
            </a:r>
          </a:p>
          <a:p>
            <a:pPr marL="342900" indent="-342900" algn="just">
              <a:buAutoNum type="alphaLcPeriod"/>
            </a:pPr>
            <a:r>
              <a:rPr lang="en-IN" dirty="0"/>
              <a:t>Longitude</a:t>
            </a:r>
          </a:p>
          <a:p>
            <a:pPr marL="342900" indent="-342900" algn="just">
              <a:buAutoNum type="alphaLcPeriod"/>
            </a:pPr>
            <a:r>
              <a:rPr lang="en-IN" dirty="0"/>
              <a:t>Time</a:t>
            </a:r>
          </a:p>
          <a:p>
            <a:pPr marL="342900" indent="-342900" algn="just">
              <a:buAutoNum type="alphaLcPeriod"/>
            </a:pPr>
            <a:endParaRPr lang="en-IN" dirty="0"/>
          </a:p>
          <a:p>
            <a:pPr algn="just"/>
            <a:r>
              <a:rPr lang="en-US" dirty="0"/>
              <a:t>To ensure physically consistent velocity reconstruction, the IMU acceleration signal was detrended to eliminate bias and low-frequency drift, low-pass filtered for noise reduction, and subsequently integrated without post-processing of the velocity.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We analyzed the Acceleration X data and inferred that the orientation of IMU for dataset 1 is inverted with respect to the SAE orientation as seen in the top figure. Thus, a condition to invert it has been implemented to correct orientation.</a:t>
            </a:r>
          </a:p>
          <a:p>
            <a:pPr algn="just"/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BFC70F-CB0D-5B2F-B102-5484B019F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390" y="3563314"/>
            <a:ext cx="3890664" cy="24866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6DE5D0-E87F-790E-FC83-69DF942F9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792" y="694874"/>
            <a:ext cx="3903262" cy="26814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214EF0-2168-FEA4-BA48-B1497572AC0A}"/>
              </a:ext>
            </a:extLst>
          </p:cNvPr>
          <p:cNvSpPr txBox="1"/>
          <p:nvPr/>
        </p:nvSpPr>
        <p:spPr>
          <a:xfrm>
            <a:off x="8965974" y="3329348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</a:t>
            </a:r>
            <a:r>
              <a:rPr lang="en-IN" sz="1000" i="1" dirty="0" err="1"/>
              <a:t>Acc</a:t>
            </a:r>
            <a:r>
              <a:rPr lang="en-IN" sz="1000" i="1" dirty="0"/>
              <a:t> X for dataset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3978AD-CA8C-5792-6B5E-B9C5CDC223BA}"/>
              </a:ext>
            </a:extLst>
          </p:cNvPr>
          <p:cNvSpPr txBox="1"/>
          <p:nvPr/>
        </p:nvSpPr>
        <p:spPr>
          <a:xfrm>
            <a:off x="8756600" y="6049927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Corrected </a:t>
            </a:r>
            <a:r>
              <a:rPr lang="en-IN" sz="1000" i="1" dirty="0" err="1"/>
              <a:t>Acc</a:t>
            </a:r>
            <a:r>
              <a:rPr lang="en-IN" sz="1000" i="1" dirty="0"/>
              <a:t> X for dataset 1</a:t>
            </a:r>
          </a:p>
        </p:txBody>
      </p:sp>
    </p:spTree>
    <p:extLst>
      <p:ext uri="{BB962C8B-B14F-4D97-AF65-F5344CB8AC3E}">
        <p14:creationId xmlns:p14="http://schemas.microsoft.com/office/powerpoint/2010/main" val="1888758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1200F-C68D-CC7A-6FC2-5839DEC5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9D774CD-77EC-F9C7-2A58-E63C9896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7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E20470-CE61-6B52-A505-1742B7D89E99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E7E3B2-EFCB-176E-0440-832626327253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A04A3428-91D3-27C8-37CA-2E1B7B0598D3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185B491B-9A31-B7E3-FBAA-9B634593D0F1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1E54ADB5-A4E0-D8CB-5436-A3AB725C382C}"/>
              </a:ext>
            </a:extLst>
          </p:cNvPr>
          <p:cNvSpPr txBox="1">
            <a:spLocks/>
          </p:cNvSpPr>
          <p:nvPr/>
        </p:nvSpPr>
        <p:spPr>
          <a:xfrm>
            <a:off x="334964" y="808073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IMU AND GPS DATA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7449F6D6-A216-BC50-C009-92098C0B809A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7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5AC92C25-B622-60AC-A517-550A0B5688DA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EC7719-508B-2622-3CE4-2480B2AAD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386932"/>
              </p:ext>
            </p:extLst>
          </p:nvPr>
        </p:nvGraphicFramePr>
        <p:xfrm>
          <a:off x="1161580" y="1549688"/>
          <a:ext cx="9788385" cy="3624220"/>
        </p:xfrm>
        <a:graphic>
          <a:graphicData uri="http://schemas.openxmlformats.org/drawingml/2006/table">
            <a:tbl>
              <a:tblPr/>
              <a:tblGrid>
                <a:gridCol w="3262795">
                  <a:extLst>
                    <a:ext uri="{9D8B030D-6E8A-4147-A177-3AD203B41FA5}">
                      <a16:colId xmlns:a16="http://schemas.microsoft.com/office/drawing/2014/main" val="2683522587"/>
                    </a:ext>
                  </a:extLst>
                </a:gridCol>
                <a:gridCol w="3262795">
                  <a:extLst>
                    <a:ext uri="{9D8B030D-6E8A-4147-A177-3AD203B41FA5}">
                      <a16:colId xmlns:a16="http://schemas.microsoft.com/office/drawing/2014/main" val="1048636192"/>
                    </a:ext>
                  </a:extLst>
                </a:gridCol>
                <a:gridCol w="3262795">
                  <a:extLst>
                    <a:ext uri="{9D8B030D-6E8A-4147-A177-3AD203B41FA5}">
                      <a16:colId xmlns:a16="http://schemas.microsoft.com/office/drawing/2014/main" val="3980567021"/>
                    </a:ext>
                  </a:extLst>
                </a:gridCol>
              </a:tblGrid>
              <a:tr h="4169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</a:rPr>
                        <a:t>Data Source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</a:rPr>
                        <a:t>Problem in Raw Data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</a:rPr>
                        <a:t>Solution Applied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670020"/>
                  </a:ext>
                </a:extLst>
              </a:tr>
              <a:tr h="837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GPS (Latitude–Longitude)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High-frequency jitter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Low-pass Butterworth filtering of position data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869895"/>
                  </a:ext>
                </a:extLst>
              </a:tr>
              <a:tr h="805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GPS (Speed)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Sudden spikes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Median filtering and MAD-based spike rejection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306558"/>
                  </a:ext>
                </a:extLst>
              </a:tr>
              <a:tr h="837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IMU (Acceleration)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DC offset / bias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Mean removal (detrending) before integration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544361"/>
                  </a:ext>
                </a:extLst>
              </a:tr>
              <a:tr h="72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IMU (Acceleration)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High-frequency noise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Low-pass Butterworth filtering</a:t>
                      </a:r>
                    </a:p>
                  </a:txBody>
                  <a:tcPr marL="68140" marR="68140" marT="34070" marB="34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242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61474B-520C-0EA4-E273-E88126E9F95D}"/>
              </a:ext>
            </a:extLst>
          </p:cNvPr>
          <p:cNvSpPr txBox="1"/>
          <p:nvPr/>
        </p:nvSpPr>
        <p:spPr>
          <a:xfrm>
            <a:off x="4497914" y="1228114"/>
            <a:ext cx="6452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i="1" dirty="0"/>
              <a:t>Table : Common Problems in Raw data</a:t>
            </a:r>
          </a:p>
        </p:txBody>
      </p:sp>
    </p:spTree>
    <p:extLst>
      <p:ext uri="{BB962C8B-B14F-4D97-AF65-F5344CB8AC3E}">
        <p14:creationId xmlns:p14="http://schemas.microsoft.com/office/powerpoint/2010/main" val="1822132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68DD7-52E3-40D2-C0E6-57EA81A4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F28C0E1-C973-7532-B620-54964B347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8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9D3862-C5B8-9417-E55A-A98D736ABD08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EC45A1-03FE-E131-783D-317BACB8B5EE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A9286C2F-F852-B6B9-E225-2262068664D7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03F157FB-68E1-13C3-64D2-CCDDFAB1C7D0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C9F0E428-9118-6C9F-120A-33601B70DBE0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Corrected Longitudinal Acceleration vs Time 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C699687E-DFA6-5D19-0484-EB4537284686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8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715CF057-8F33-7A86-AB50-7A96E1894381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B6E3CA-1237-E596-E557-703FEEAE4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632" y="1138510"/>
            <a:ext cx="3595403" cy="22904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BD1C3A-9756-B688-6C5B-4D96BBEBE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965" y="3723998"/>
            <a:ext cx="3595316" cy="24363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9DBDE0-746D-DE63-0071-92B2013B7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632" y="3704363"/>
            <a:ext cx="3595403" cy="24245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014D8F-A9C4-CD7C-652E-D481D1EEA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878" y="1114491"/>
            <a:ext cx="3595403" cy="23145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435051-81C2-4E65-EB65-FC941123613C}"/>
              </a:ext>
            </a:extLst>
          </p:cNvPr>
          <p:cNvSpPr txBox="1"/>
          <p:nvPr/>
        </p:nvSpPr>
        <p:spPr>
          <a:xfrm>
            <a:off x="2868052" y="3430829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4B43F-2A90-7B86-92F7-13FBBAC96898}"/>
              </a:ext>
            </a:extLst>
          </p:cNvPr>
          <p:cNvSpPr txBox="1"/>
          <p:nvPr/>
        </p:nvSpPr>
        <p:spPr>
          <a:xfrm>
            <a:off x="8425572" y="3427171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9D5A2-ECEF-EA65-60FF-8DA560B26420}"/>
              </a:ext>
            </a:extLst>
          </p:cNvPr>
          <p:cNvSpPr txBox="1"/>
          <p:nvPr/>
        </p:nvSpPr>
        <p:spPr>
          <a:xfrm>
            <a:off x="2868051" y="6128951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4ADDB-7929-E665-8F35-56753664B6BE}"/>
              </a:ext>
            </a:extLst>
          </p:cNvPr>
          <p:cNvSpPr txBox="1"/>
          <p:nvPr/>
        </p:nvSpPr>
        <p:spPr>
          <a:xfrm>
            <a:off x="8425572" y="6125293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4</a:t>
            </a:r>
          </a:p>
        </p:txBody>
      </p:sp>
    </p:spTree>
    <p:extLst>
      <p:ext uri="{BB962C8B-B14F-4D97-AF65-F5344CB8AC3E}">
        <p14:creationId xmlns:p14="http://schemas.microsoft.com/office/powerpoint/2010/main" val="1626241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8657C-16F6-D9B8-910D-198718FD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D22E5F5-72C7-4A57-6D0A-19ECDAB6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9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AE3F5E-D622-F05F-8E4D-1E18DA1B0F75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0F9C80-4BAA-F0D6-7B32-5436E0B150B0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DCBCFEBB-8413-35FE-C025-A074CBADF0CC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94F4B043-EA61-FA75-7A39-66AC1955211B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740392F0-24DA-C70F-8858-ECA4C4DBE51D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9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B7430A54-336B-D162-393F-17B935C0074A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E3ED2-C569-11FF-07E5-0B5E6C651BE8}"/>
              </a:ext>
            </a:extLst>
          </p:cNvPr>
          <p:cNvSpPr txBox="1"/>
          <p:nvPr/>
        </p:nvSpPr>
        <p:spPr>
          <a:xfrm>
            <a:off x="254254" y="1041103"/>
            <a:ext cx="35574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We have used both IMU and GPS data to generate a speed profile and determine the location of max speed.</a:t>
            </a:r>
          </a:p>
          <a:p>
            <a:pPr algn="just"/>
            <a:r>
              <a:rPr lang="en-IN" dirty="0"/>
              <a:t>Integrating the filtered </a:t>
            </a:r>
            <a:r>
              <a:rPr lang="en-IN" dirty="0" err="1"/>
              <a:t>Acc_x</a:t>
            </a:r>
            <a:r>
              <a:rPr lang="en-IN" dirty="0"/>
              <a:t> data and using Haversine’s Distance formula for GPS provides us with the two plots.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blue lines depict the GPS data whereas the green lines depict the IMU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E3164C-393D-60FD-9B81-53AFBF79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274" y="705948"/>
            <a:ext cx="3633366" cy="23469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86DA87-6D8E-6CA9-CCBE-94B3BBAB1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460" y="705947"/>
            <a:ext cx="3617041" cy="23469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95F0BB-8643-C642-D011-FEB812E2A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7273" y="3427670"/>
            <a:ext cx="3633365" cy="24752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7D9025-A928-296F-1F4A-52971BED95A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537"/>
          <a:stretch>
            <a:fillRect/>
          </a:stretch>
        </p:blipFill>
        <p:spPr>
          <a:xfrm>
            <a:off x="8154460" y="3427670"/>
            <a:ext cx="3617041" cy="24752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3A33090-1D04-D19B-1BD9-33C5A91F2D1F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Speed Profile</a:t>
            </a:r>
            <a:br>
              <a:rPr lang="it-IT" dirty="0"/>
            </a:br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21851-948E-78EB-6BE1-5D03DAF04916}"/>
              </a:ext>
            </a:extLst>
          </p:cNvPr>
          <p:cNvSpPr txBox="1"/>
          <p:nvPr/>
        </p:nvSpPr>
        <p:spPr>
          <a:xfrm>
            <a:off x="5485695" y="3097963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93977-1F42-CED1-E388-F795F2AF0966}"/>
              </a:ext>
            </a:extLst>
          </p:cNvPr>
          <p:cNvSpPr txBox="1"/>
          <p:nvPr/>
        </p:nvSpPr>
        <p:spPr>
          <a:xfrm>
            <a:off x="9665335" y="3071995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A2A0F2-CB88-BB40-B409-6633B7266A57}"/>
              </a:ext>
            </a:extLst>
          </p:cNvPr>
          <p:cNvSpPr txBox="1"/>
          <p:nvPr/>
        </p:nvSpPr>
        <p:spPr>
          <a:xfrm>
            <a:off x="5404987" y="5920509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9734E-BDAC-64DC-89C1-B6A98D926E46}"/>
              </a:ext>
            </a:extLst>
          </p:cNvPr>
          <p:cNvSpPr txBox="1"/>
          <p:nvPr/>
        </p:nvSpPr>
        <p:spPr>
          <a:xfrm>
            <a:off x="9569642" y="5909511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4</a:t>
            </a:r>
          </a:p>
        </p:txBody>
      </p:sp>
    </p:spTree>
    <p:extLst>
      <p:ext uri="{BB962C8B-B14F-4D97-AF65-F5344CB8AC3E}">
        <p14:creationId xmlns:p14="http://schemas.microsoft.com/office/powerpoint/2010/main" val="2809898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0291-F5F4-DD7C-DBDB-56F7777B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3AEECE-F33B-671A-67B3-C08C1E45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10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0F410E-2BCA-4838-42A8-9A3BD202CB23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D999F-179B-D07D-BE81-85384A28E776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1BFB2C8A-44E7-C4F1-A51E-C6D7BD856AD3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055F9C9A-61D2-1B71-CDC2-CE9621B74DA8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B9A5C06B-364C-0A9E-C20E-56F65ED6D7C8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Corrected Longitudinal Acceleration vs Time 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ADFDA8CC-B18C-DFE5-4ADE-A0DE5A6DC331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10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662BB819-B5CE-27E1-51D6-892D02D2941F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04634-0EFD-803A-7BE8-B0577F30F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990" y="1060498"/>
            <a:ext cx="3067932" cy="21307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0B9993-21C4-48A5-4BA0-EC64E3A0E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6152" y="1054674"/>
            <a:ext cx="3049459" cy="21307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BB1555-FCB7-1392-B359-D0F239AC034F}"/>
              </a:ext>
            </a:extLst>
          </p:cNvPr>
          <p:cNvSpPr txBox="1"/>
          <p:nvPr/>
        </p:nvSpPr>
        <p:spPr>
          <a:xfrm>
            <a:off x="254254" y="1041103"/>
            <a:ext cx="51915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An interesting identification made by us is in the comparison of the speed of dataset 3 from IMU and GPS data. </a:t>
            </a:r>
          </a:p>
          <a:p>
            <a:pPr algn="just"/>
            <a:r>
              <a:rPr lang="en-IN" dirty="0"/>
              <a:t>For the initial time period we can notice a large negative acceleration (around -2.2m/s2) even after detrending the data.  This is more apparent in the speed profiles generated from IMU and GPS.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This led us to believe that there was a major orientation error in the IMU. </a:t>
            </a:r>
          </a:p>
          <a:p>
            <a:pPr algn="just"/>
            <a:r>
              <a:rPr lang="en-IN" dirty="0"/>
              <a:t>By considering the difference in the raw and filtered acceleration, we calculated the offset angle of the IMU to be around 73°.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By multiply the acceleration for the time period of T&lt;3s for dataset 3, we were able to remedy this offset.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BF4BC4-BFEF-5BD8-C015-09098BDAD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920" y="3619002"/>
            <a:ext cx="3037237" cy="19957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2C6907-155A-E74F-4B5F-9D34B1FA566A}"/>
              </a:ext>
            </a:extLst>
          </p:cNvPr>
          <p:cNvSpPr txBox="1"/>
          <p:nvPr/>
        </p:nvSpPr>
        <p:spPr>
          <a:xfrm>
            <a:off x="6563362" y="3185390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</a:t>
            </a:r>
            <a:r>
              <a:rPr lang="en-IN" sz="1000" i="1" dirty="0" err="1"/>
              <a:t>Acc</a:t>
            </a:r>
            <a:r>
              <a:rPr lang="en-IN" sz="1000" i="1" dirty="0"/>
              <a:t> x for Data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09B6EC-5B1B-6ACB-A3E9-9A653042E590}"/>
              </a:ext>
            </a:extLst>
          </p:cNvPr>
          <p:cNvSpPr txBox="1"/>
          <p:nvPr/>
        </p:nvSpPr>
        <p:spPr>
          <a:xfrm>
            <a:off x="7174855" y="5642065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Cross-correlation between the two speed profiles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CBAE61-6E6B-D354-6C74-84B940063A2C}"/>
              </a:ext>
            </a:extLst>
          </p:cNvPr>
          <p:cNvSpPr txBox="1"/>
          <p:nvPr/>
        </p:nvSpPr>
        <p:spPr>
          <a:xfrm>
            <a:off x="9319332" y="3182779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Offset in Speed Profiles for Data 3</a:t>
            </a:r>
          </a:p>
        </p:txBody>
      </p:sp>
    </p:spTree>
    <p:extLst>
      <p:ext uri="{BB962C8B-B14F-4D97-AF65-F5344CB8AC3E}">
        <p14:creationId xmlns:p14="http://schemas.microsoft.com/office/powerpoint/2010/main" val="1759744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40BF-A046-9524-4215-BB9B401A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E4DB0E-4A8A-E0DC-4E0D-9FE689FC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11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769C5C-D703-E899-5159-61140DC787D8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4E1DA6-1694-14A1-D045-ADA851726CA9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F1A6B9A4-913F-FE59-8742-8303785F66EA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6F271BC6-AE3A-62BF-3412-E86D503CD1D5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0B2BB195-6730-0269-35DF-F83BD57601EA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Corrected Longitudinal Acceleration vs Time 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4A25988D-49AB-8764-F4A3-5E5E1D47CA5D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11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7AEF81CF-60D7-D689-FE4F-6FE042DFD01E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4FB19-1A27-3F27-6206-AAD6116F5AF4}"/>
              </a:ext>
            </a:extLst>
          </p:cNvPr>
          <p:cNvSpPr txBox="1"/>
          <p:nvPr/>
        </p:nvSpPr>
        <p:spPr>
          <a:xfrm>
            <a:off x="83786" y="5217413"/>
            <a:ext cx="12020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After multiplying the data with the calculated angle, we get a much accurate horizontal component for this acceleration. This can be seen with the corrected speed plot and a much more accurate correlation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6AC06E-FEED-F2EC-3748-C68D926E7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84" y="1820174"/>
            <a:ext cx="3655627" cy="25379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ACDA94-4E06-DAB9-B71B-3E600AAF4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784" y="1825253"/>
            <a:ext cx="3694254" cy="25328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D7158D-3B0F-5EA2-A7FA-8BA852E6D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994" y="1820174"/>
            <a:ext cx="3694254" cy="25328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A95D57-3EC0-03D9-7DE0-243B5F775886}"/>
              </a:ext>
            </a:extLst>
          </p:cNvPr>
          <p:cNvSpPr txBox="1"/>
          <p:nvPr/>
        </p:nvSpPr>
        <p:spPr>
          <a:xfrm>
            <a:off x="4629222" y="4475968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Corrected Plots for Data 3</a:t>
            </a:r>
          </a:p>
        </p:txBody>
      </p:sp>
    </p:spTree>
    <p:extLst>
      <p:ext uri="{BB962C8B-B14F-4D97-AF65-F5344CB8AC3E}">
        <p14:creationId xmlns:p14="http://schemas.microsoft.com/office/powerpoint/2010/main" val="585798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E75E1-777B-99CC-0310-3FBE702C7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F7238B0-9ECD-731D-7D6C-2AA4A464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12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2DEA92-D02A-FCA4-73B9-C5F6CF611796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E1F1FF-1CBE-C7F0-F42A-863687E3F62D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B420CEC0-26B1-AA4E-4C32-7772B141F803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4A39C451-4941-7B6F-213D-8FE5076A226F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FFD48DB1-4DCC-BC80-4281-B6BC2CE59E06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BRAKING DETECTION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329F4916-07CB-180C-1FE6-D002082D9CA0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12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A02B17A4-04D9-2E31-FEF6-8EC2343A685D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755E9-426D-2E54-5D2D-790B7842BBAE}"/>
              </a:ext>
            </a:extLst>
          </p:cNvPr>
          <p:cNvSpPr txBox="1"/>
          <p:nvPr/>
        </p:nvSpPr>
        <p:spPr>
          <a:xfrm>
            <a:off x="246346" y="1105470"/>
            <a:ext cx="53416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We have everything we require i.e. filtered longitudinal acceleration and speed profiles.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We have used GPS speed for braking detection as we believe that is more accurate and the final case is dependent on max speed which is nearly identical for both profiles.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Three conditions that we have imposed to detect braking are-</a:t>
            </a:r>
          </a:p>
          <a:p>
            <a:pPr marL="342900" indent="-342900" algn="just">
              <a:buAutoNum type="arabicPeriod"/>
            </a:pPr>
            <a:r>
              <a:rPr lang="en-IN" dirty="0"/>
              <a:t>Acceleration below a threshold (-0.3m/s2)</a:t>
            </a:r>
          </a:p>
          <a:p>
            <a:pPr marL="342900" indent="-342900" algn="just">
              <a:buAutoNum type="arabicPeriod"/>
            </a:pPr>
            <a:r>
              <a:rPr lang="en-IN" dirty="0"/>
              <a:t>Velocity gradient negative and below a threshold ( -0.2 m/s2)</a:t>
            </a:r>
          </a:p>
          <a:p>
            <a:pPr marL="342900" indent="-342900" algn="just">
              <a:buAutoNum type="arabicPeriod"/>
            </a:pPr>
            <a:r>
              <a:rPr lang="en-IN" dirty="0"/>
              <a:t>Minimum time duration of 0.3s to detect sustained braking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4229049-F0D8-B211-9AD2-ACCE2EEEE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78" y="1105470"/>
            <a:ext cx="5577024" cy="36170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C1B763-1C3D-AF3A-0A67-0B3E6C6FCC2B}"/>
              </a:ext>
            </a:extLst>
          </p:cNvPr>
          <p:cNvSpPr txBox="1"/>
          <p:nvPr/>
        </p:nvSpPr>
        <p:spPr>
          <a:xfrm>
            <a:off x="8245189" y="4749829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Braking Detection</a:t>
            </a:r>
          </a:p>
        </p:txBody>
      </p:sp>
    </p:spTree>
    <p:extLst>
      <p:ext uri="{BB962C8B-B14F-4D97-AF65-F5344CB8AC3E}">
        <p14:creationId xmlns:p14="http://schemas.microsoft.com/office/powerpoint/2010/main" val="1330880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1E00C-5104-9DB5-76E9-7DE7F4C9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047546-C23C-AE22-35B2-70473CF1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13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AC4197-A88B-EA31-D2FA-EB597BB08A60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05DCD-9F1F-949D-9DB0-8FAA9BADA07C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7A4BD54A-FB38-CA34-2110-C430C73FA652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574C89A7-E89D-686C-BBA8-1E82139F70BE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472CAD60-033F-B9B6-C3AE-79EB37EBF533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BRAKING DETECTION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F557476E-9EF5-983F-0EC9-410916B18AF4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13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91382EA5-E956-E2F9-4FF6-89F9B1C6E6B6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45D60-2F18-1A25-ECE2-F7D7BDCE9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23" y="1004765"/>
            <a:ext cx="3549201" cy="24242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1DB7FB-E5F7-1F99-2422-AF15AD0DC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995" y="1004764"/>
            <a:ext cx="3573051" cy="24242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B443AE-BA76-B812-E434-6391D6FF6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022" y="3756055"/>
            <a:ext cx="3549201" cy="23049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AC1C79-C29E-F336-0B14-D140662DC8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995" y="3756056"/>
            <a:ext cx="3573051" cy="23049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B7CA58-965C-1C1A-BDA3-2E47DCC6E36F}"/>
              </a:ext>
            </a:extLst>
          </p:cNvPr>
          <p:cNvSpPr txBox="1"/>
          <p:nvPr/>
        </p:nvSpPr>
        <p:spPr>
          <a:xfrm>
            <a:off x="2268612" y="3440063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75F474-488B-0C78-8CAF-D9F1060128DE}"/>
              </a:ext>
            </a:extLst>
          </p:cNvPr>
          <p:cNvSpPr txBox="1"/>
          <p:nvPr/>
        </p:nvSpPr>
        <p:spPr>
          <a:xfrm>
            <a:off x="8531470" y="3435671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CB7EB-133F-27B1-D8B3-B41147F7F674}"/>
              </a:ext>
            </a:extLst>
          </p:cNvPr>
          <p:cNvSpPr txBox="1"/>
          <p:nvPr/>
        </p:nvSpPr>
        <p:spPr>
          <a:xfrm>
            <a:off x="2268611" y="6097502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060BE-54E8-3998-CD79-19F009969029}"/>
              </a:ext>
            </a:extLst>
          </p:cNvPr>
          <p:cNvSpPr txBox="1"/>
          <p:nvPr/>
        </p:nvSpPr>
        <p:spPr>
          <a:xfrm>
            <a:off x="8496692" y="6065355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4</a:t>
            </a:r>
          </a:p>
        </p:txBody>
      </p:sp>
    </p:spTree>
    <p:extLst>
      <p:ext uri="{BB962C8B-B14F-4D97-AF65-F5344CB8AC3E}">
        <p14:creationId xmlns:p14="http://schemas.microsoft.com/office/powerpoint/2010/main" val="1152934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2D970-1FB5-5092-359C-1EDFB75C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474E9D-2613-3694-FACA-0F32C6B0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67" y="1418313"/>
            <a:ext cx="8640763" cy="1299008"/>
          </a:xfrm>
        </p:spPr>
        <p:txBody>
          <a:bodyPr/>
          <a:lstStyle/>
          <a:p>
            <a:r>
              <a:rPr lang="it-IT" dirty="0"/>
              <a:t>Task 3</a:t>
            </a:r>
            <a:br>
              <a:rPr lang="it-IT" dirty="0"/>
            </a:br>
            <a:r>
              <a:rPr lang="it-IT" b="0" dirty="0"/>
              <a:t>Steering Correction Analysis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6DCEC8F-D433-18A3-65E1-6E3DAB7F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14</a:t>
            </a:fld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5D484-F62C-0D8B-14BD-9B8BDD0062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03</a:t>
            </a:r>
          </a:p>
        </p:txBody>
      </p:sp>
      <p:pic>
        <p:nvPicPr>
          <p:cNvPr id="1032" name="Picture 8" descr="Use links below to save image.">
            <a:extLst>
              <a:ext uri="{FF2B5EF4-FFF2-40B4-BE49-F238E27FC236}">
                <a16:creationId xmlns:a16="http://schemas.microsoft.com/office/drawing/2014/main" id="{FE181E2C-1D33-A3D6-8F85-0C34BB943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3" y="1646264"/>
            <a:ext cx="843106" cy="84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908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EE0EC-21FA-6AB4-5143-04B30C473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0C5633-51AB-92C0-19D4-78D78D925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15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AC5400-1BFE-2698-AC3F-4293FA88A376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32D5D1-5719-8B81-7D31-63A7A7E22BAF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6AC6FC9B-904C-5B0F-2645-C23DFB307964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A1651495-1A00-F927-A4A3-ADD45B80EC5C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DB0E2AD5-CF63-A6F9-7BD4-05E2DF262548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STEERING CORRECTION ANALYSIS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CF7EF658-C935-B905-C27E-1F199653CF85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15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0C3CB9F6-4735-B840-54FC-F185B944571E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1292F-FBB1-DE97-7E3E-9CFA68D0EBBF}"/>
              </a:ext>
            </a:extLst>
          </p:cNvPr>
          <p:cNvSpPr txBox="1"/>
          <p:nvPr/>
        </p:nvSpPr>
        <p:spPr>
          <a:xfrm>
            <a:off x="246346" y="1105470"/>
            <a:ext cx="53416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The main task is to determine the major steering corrections made by the driver. The major dataset that is to be used is the Gyroscope Z data which gives us information about the rotation.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We begin by filtering the data with a band-pass Butterworth filter in a frequency range of 1-4 Hz.</a:t>
            </a:r>
          </a:p>
          <a:p>
            <a:pPr marL="342900" indent="-342900" algn="just">
              <a:buAutoNum type="alphaLcPeriod"/>
            </a:pPr>
            <a:r>
              <a:rPr lang="en-IN" dirty="0"/>
              <a:t>The lower cut-off ensures that we do not consider normal driver movements.</a:t>
            </a:r>
          </a:p>
          <a:p>
            <a:pPr marL="342900" indent="-342900" algn="just">
              <a:buAutoNum type="alphaLcPeriod"/>
            </a:pPr>
            <a:r>
              <a:rPr lang="en-IN" dirty="0"/>
              <a:t>The higher cut-off filters out the sensor noise and other high frequency components.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filtered data should contain the main content for us to analyse the major steering actions.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9687E-9053-B19A-93D9-3A773A065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543" y="1637219"/>
            <a:ext cx="5194842" cy="31820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9F6996-C598-98C8-F37F-11B6100518A7}"/>
              </a:ext>
            </a:extLst>
          </p:cNvPr>
          <p:cNvSpPr txBox="1"/>
          <p:nvPr/>
        </p:nvSpPr>
        <p:spPr>
          <a:xfrm>
            <a:off x="8018135" y="4819269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Raw vs Filtered Gyro Data</a:t>
            </a:r>
          </a:p>
        </p:txBody>
      </p:sp>
    </p:spTree>
    <p:extLst>
      <p:ext uri="{BB962C8B-B14F-4D97-AF65-F5344CB8AC3E}">
        <p14:creationId xmlns:p14="http://schemas.microsoft.com/office/powerpoint/2010/main" val="3302013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A96F7-A9E5-6DA5-1B8A-29B0403E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143FED8-41BB-9126-3E89-1479F6A9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16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C4B7E7-16DA-FEF7-A203-416CAEF445C2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42E0F0-8FE2-F418-1F48-590B2F79115A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174D99A0-F956-B307-9A59-3E5DA5371C9A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F5918F0A-0DFD-C594-7D27-EA7E6B2DEE3C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BCCE2CBF-ACEE-F30F-9036-6E04DC4239A9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STEERING CORRECTION ANALYSIS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0E413115-2AAA-153F-9A0B-7DEBB87B188D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16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CC4A4321-C2F5-B9F4-5B18-37BDEABF4CB9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BC8F8D-D2DF-60AB-C13A-D7DB984715EF}"/>
              </a:ext>
            </a:extLst>
          </p:cNvPr>
          <p:cNvSpPr txBox="1"/>
          <p:nvPr/>
        </p:nvSpPr>
        <p:spPr>
          <a:xfrm>
            <a:off x="246346" y="1105470"/>
            <a:ext cx="53416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We have considered the corrected gyro data and on first glance, the peaks should correlate to steering corrections.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However, the filtered yaw rate is still susceptible to some oscillations and noise bursts.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Thus, we have considered a second-order correction energy. </a:t>
            </a:r>
          </a:p>
          <a:p>
            <a:pPr marL="342900" indent="-342900" algn="just">
              <a:buAutoNum type="alphaLcPeriod"/>
            </a:pPr>
            <a:r>
              <a:rPr lang="en-IN" dirty="0"/>
              <a:t>The correction energy suppresses the short spikes</a:t>
            </a:r>
          </a:p>
          <a:p>
            <a:pPr marL="342900" indent="-342900" algn="just">
              <a:buAutoNum type="alphaLcPeriod"/>
            </a:pPr>
            <a:r>
              <a:rPr lang="en-IN" dirty="0"/>
              <a:t>It magnifies sustained effort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These 2 factors provide us with the main corrections from the filtered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B753BE-AD0C-C8E3-FA69-76129D0CF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638" y="1461145"/>
            <a:ext cx="5767043" cy="38241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B27E07-E7E9-E9FD-095A-E88296759613}"/>
              </a:ext>
            </a:extLst>
          </p:cNvPr>
          <p:cNvSpPr txBox="1"/>
          <p:nvPr/>
        </p:nvSpPr>
        <p:spPr>
          <a:xfrm>
            <a:off x="7449175" y="5285281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Identification of correction points from steering energy</a:t>
            </a:r>
          </a:p>
        </p:txBody>
      </p:sp>
    </p:spTree>
    <p:extLst>
      <p:ext uri="{BB962C8B-B14F-4D97-AF65-F5344CB8AC3E}">
        <p14:creationId xmlns:p14="http://schemas.microsoft.com/office/powerpoint/2010/main" val="1346851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ECE4F-EE05-C383-DA95-5752571C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C5DB43C-61CA-1A8C-6F97-06F5FD20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17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8B179F-479C-FC70-B658-00107F0CE1EA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C2DCDF-361B-963C-22DB-F9D298F22E86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6F6C29B7-812E-F6A3-4C52-FB3FF20F70A0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2669758F-BC31-7CFE-C7D0-25760E2BB0AC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87863049-02ED-AAA8-04A9-DFE50CFDEDFA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STEERING CORRECTION ANALYSIS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B05508DE-E2D3-3A90-1CE4-57497D0A4C61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17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80A948B6-F43A-ADFC-C0D4-E55CA7191554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034057-19E8-9338-15C3-7A90A6E67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53867"/>
            <a:ext cx="4087215" cy="23675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0D5396-1DEC-C18A-1644-4011561AA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639" y="1253867"/>
            <a:ext cx="4299361" cy="23675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C69C71-C88E-C916-CD71-37DE55901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58342"/>
            <a:ext cx="4087215" cy="22861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E04C53-A1F7-C5F6-63A9-1D749CE953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639" y="3858342"/>
            <a:ext cx="4299361" cy="23287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5609F5-7BE1-24DE-2D06-D055D72E1310}"/>
              </a:ext>
            </a:extLst>
          </p:cNvPr>
          <p:cNvSpPr txBox="1"/>
          <p:nvPr/>
        </p:nvSpPr>
        <p:spPr>
          <a:xfrm>
            <a:off x="2187332" y="3612121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7978B-CD62-60C6-98B1-6E5502FC6D92}"/>
              </a:ext>
            </a:extLst>
          </p:cNvPr>
          <p:cNvSpPr txBox="1"/>
          <p:nvPr/>
        </p:nvSpPr>
        <p:spPr>
          <a:xfrm>
            <a:off x="8639383" y="3618949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150691-D7C6-A63D-EDF0-C84E0962908B}"/>
              </a:ext>
            </a:extLst>
          </p:cNvPr>
          <p:cNvSpPr txBox="1"/>
          <p:nvPr/>
        </p:nvSpPr>
        <p:spPr>
          <a:xfrm>
            <a:off x="2187332" y="6115980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C4C8F7-D0E4-00BC-633A-F31F7A697626}"/>
              </a:ext>
            </a:extLst>
          </p:cNvPr>
          <p:cNvSpPr txBox="1"/>
          <p:nvPr/>
        </p:nvSpPr>
        <p:spPr>
          <a:xfrm>
            <a:off x="8631012" y="6164072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4</a:t>
            </a:r>
          </a:p>
        </p:txBody>
      </p:sp>
    </p:spTree>
    <p:extLst>
      <p:ext uri="{BB962C8B-B14F-4D97-AF65-F5344CB8AC3E}">
        <p14:creationId xmlns:p14="http://schemas.microsoft.com/office/powerpoint/2010/main" val="3909201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5ABA-28B4-3197-7F02-5E9EA07A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4355CE0-9D10-D440-D71F-C42FCD54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18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A5090-7EEE-A947-1AAF-7C9DEF845AFB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CF86E8-08B6-EE40-7738-3E9D7AD16572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12C5AB00-C613-5A09-51C6-BD0E4D813A84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FF4F82CD-B078-FE54-4D83-2556E8B81C06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FE1D75B6-21F9-14C9-6131-227DFABD3939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FREQUENCY CONTENT</a:t>
            </a:r>
          </a:p>
          <a:p>
            <a:r>
              <a:rPr lang="it-IT" sz="2000" b="0" dirty="0"/>
              <a:t> 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C9B68BC7-40A3-1EBC-41FB-6E43F710B84D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18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6BF06C93-1350-52D4-CAAE-5D2E40FCA080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FA8957-9AE0-AFFA-2616-5C3B3B7BB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827" y="1226390"/>
            <a:ext cx="3254885" cy="22189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689614-9E20-732A-F95A-102476F7C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1659" y="1226390"/>
            <a:ext cx="3372037" cy="22026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DF7754-8D42-0DD3-B9F6-5357F9C77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827" y="3825957"/>
            <a:ext cx="3254885" cy="22156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F02E2B-45BB-9636-A6CB-082E55B72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658" y="3822055"/>
            <a:ext cx="3372038" cy="22213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00092F-2F73-E490-0F42-087FF14BE0C2}"/>
              </a:ext>
            </a:extLst>
          </p:cNvPr>
          <p:cNvSpPr txBox="1"/>
          <p:nvPr/>
        </p:nvSpPr>
        <p:spPr>
          <a:xfrm>
            <a:off x="147190" y="1215311"/>
            <a:ext cx="450777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We have used Power Spectral Density using Welch’s method and a single FFT on the gyro data.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Both FFT and PSD identify the same dominant frequency content, confirming consistency of the signal.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FFT highlights individual frequency components, whereas the PSD provides a smoother, energy-based representation that is more suitable for quantitative analysis.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Overall, the results confirm that the applied filtering successfully isolates meaningful steering corrections.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A95157-AE63-CEB4-CC5D-0A627AC23FE4}"/>
              </a:ext>
            </a:extLst>
          </p:cNvPr>
          <p:cNvSpPr txBox="1"/>
          <p:nvPr/>
        </p:nvSpPr>
        <p:spPr>
          <a:xfrm>
            <a:off x="5983812" y="3472683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6FD31-EE71-BE0F-1594-5E1F245F17BB}"/>
              </a:ext>
            </a:extLst>
          </p:cNvPr>
          <p:cNvSpPr txBox="1"/>
          <p:nvPr/>
        </p:nvSpPr>
        <p:spPr>
          <a:xfrm>
            <a:off x="9791312" y="3468650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A79E1-C0EC-39F0-E00B-410EA7F46D5F}"/>
              </a:ext>
            </a:extLst>
          </p:cNvPr>
          <p:cNvSpPr txBox="1"/>
          <p:nvPr/>
        </p:nvSpPr>
        <p:spPr>
          <a:xfrm>
            <a:off x="5903104" y="6073162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663CF-5DC3-94A4-64A9-189750C69747}"/>
              </a:ext>
            </a:extLst>
          </p:cNvPr>
          <p:cNvSpPr txBox="1"/>
          <p:nvPr/>
        </p:nvSpPr>
        <p:spPr>
          <a:xfrm>
            <a:off x="9791311" y="6023404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4</a:t>
            </a:r>
          </a:p>
        </p:txBody>
      </p:sp>
    </p:spTree>
    <p:extLst>
      <p:ext uri="{BB962C8B-B14F-4D97-AF65-F5344CB8AC3E}">
        <p14:creationId xmlns:p14="http://schemas.microsoft.com/office/powerpoint/2010/main" val="3008662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2EAC-9A56-09DA-C0DD-74F7809B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45BD52-235B-83A6-0186-845431435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67" y="1418313"/>
            <a:ext cx="8640763" cy="1299008"/>
          </a:xfrm>
        </p:spPr>
        <p:txBody>
          <a:bodyPr/>
          <a:lstStyle/>
          <a:p>
            <a:r>
              <a:rPr lang="it-IT" dirty="0"/>
              <a:t>Task 4</a:t>
            </a:r>
            <a:br>
              <a:rPr lang="it-IT" dirty="0"/>
            </a:br>
            <a:r>
              <a:rPr lang="it-IT" b="0" dirty="0"/>
              <a:t>Lateral Acceleration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A2739B-F6E7-C972-9388-806BC74A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19</a:t>
            </a:fld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A1AEC-4B1C-A748-31CE-875F77B51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04</a:t>
            </a:r>
          </a:p>
        </p:txBody>
      </p:sp>
      <p:pic>
        <p:nvPicPr>
          <p:cNvPr id="1032" name="Picture 8" descr="Use links below to save image.">
            <a:extLst>
              <a:ext uri="{FF2B5EF4-FFF2-40B4-BE49-F238E27FC236}">
                <a16:creationId xmlns:a16="http://schemas.microsoft.com/office/drawing/2014/main" id="{7F56F303-16E7-8046-0440-2B3D81F1F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3" y="1646264"/>
            <a:ext cx="843106" cy="84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594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E8E6-A463-A9D9-37B4-8B2B0BCA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78AAE8-1643-9CA6-F750-955D98B8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20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6FAD2-D0F7-2CDF-A2F0-9F699D6427FB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10F66B-B0F4-0D4D-37EB-AD18DB6CCFA7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B2799977-0BB4-A6AC-F1B6-13AF584EBB19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D3C7D3F9-F28D-47F4-982B-2ED08FEF1522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3B3E8D53-06CB-79E5-D9AC-05821513AEF0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LATERAL ACCELERATION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3D1B0714-00FA-6105-5C5F-81C46A1212ED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20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FE506F38-BE06-9087-6FDF-5F536C8F762B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89C4BD-07AF-FB73-2771-1F7733116666}"/>
              </a:ext>
            </a:extLst>
          </p:cNvPr>
          <p:cNvSpPr txBox="1"/>
          <p:nvPr/>
        </p:nvSpPr>
        <p:spPr>
          <a:xfrm>
            <a:off x="147190" y="1215311"/>
            <a:ext cx="45077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We have identified max Lateral Acceleration using the given Acceleration Y data.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process involved- </a:t>
            </a:r>
          </a:p>
          <a:p>
            <a:pPr marL="342900" indent="-342900" algn="just">
              <a:buAutoNum type="arabicPeriod"/>
            </a:pPr>
            <a:r>
              <a:rPr lang="en-US" dirty="0"/>
              <a:t>Low Pass Filtering of the data after detrending to remove sensor bias</a:t>
            </a:r>
          </a:p>
          <a:p>
            <a:pPr marL="342900" indent="-342900" algn="just">
              <a:buAutoNum type="arabicPeriod"/>
            </a:pPr>
            <a:r>
              <a:rPr lang="en-US" dirty="0"/>
              <a:t>Moving RMS Window to suppress short duration spikes</a:t>
            </a:r>
          </a:p>
          <a:p>
            <a:pPr marL="342900" indent="-342900" algn="just">
              <a:buAutoNum type="arabicPeriod"/>
            </a:pPr>
            <a:r>
              <a:rPr lang="en-US" dirty="0"/>
              <a:t>Peak detection using the cleaned signal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Alternatively, we have also determined the lateral acceleration without considering the moving RMS window.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CE528-EBE3-C182-B404-9851E903D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041" y="667129"/>
            <a:ext cx="3560437" cy="23106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6AF0B8-1547-E237-6436-31CB438BB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738" y="667129"/>
            <a:ext cx="3384529" cy="23106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24DD663-1FAC-8616-2AF7-F988136AC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054" y="3639660"/>
            <a:ext cx="3739566" cy="23106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E42E58-86AC-927E-5C77-9442C715A84A}"/>
              </a:ext>
            </a:extLst>
          </p:cNvPr>
          <p:cNvSpPr txBox="1"/>
          <p:nvPr/>
        </p:nvSpPr>
        <p:spPr>
          <a:xfrm>
            <a:off x="5762299" y="3005066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Filtered </a:t>
            </a:r>
            <a:r>
              <a:rPr lang="en-IN" sz="1000" i="1" dirty="0" err="1"/>
              <a:t>Acc</a:t>
            </a:r>
            <a:r>
              <a:rPr lang="en-IN" sz="1000" i="1" dirty="0"/>
              <a:t> Y  Plot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811AFF-E628-7B55-562B-00EE75A64863}"/>
              </a:ext>
            </a:extLst>
          </p:cNvPr>
          <p:cNvSpPr txBox="1"/>
          <p:nvPr/>
        </p:nvSpPr>
        <p:spPr>
          <a:xfrm>
            <a:off x="9269273" y="2985683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RMS Corrected </a:t>
            </a:r>
            <a:r>
              <a:rPr lang="en-IN" sz="1000" i="1" dirty="0" err="1"/>
              <a:t>Acc</a:t>
            </a:r>
            <a:r>
              <a:rPr lang="en-IN" sz="1000" i="1" dirty="0"/>
              <a:t> Y Plot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7F711-40FC-D456-63B8-09BA62228AE8}"/>
              </a:ext>
            </a:extLst>
          </p:cNvPr>
          <p:cNvSpPr txBox="1"/>
          <p:nvPr/>
        </p:nvSpPr>
        <p:spPr>
          <a:xfrm>
            <a:off x="7588512" y="5950286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Cross- Correlation </a:t>
            </a:r>
          </a:p>
        </p:txBody>
      </p:sp>
    </p:spTree>
    <p:extLst>
      <p:ext uri="{BB962C8B-B14F-4D97-AF65-F5344CB8AC3E}">
        <p14:creationId xmlns:p14="http://schemas.microsoft.com/office/powerpoint/2010/main" val="443547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6E93-0762-CC5C-C3C1-532D43BD5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F557CE3-BAF9-B76C-3681-84D31F1D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21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A2F8A5-569A-5BAF-CBFF-95392DF31CF1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536F5B-9659-C76D-CDC6-8F16B68A3097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E7319868-5C74-9631-2859-6743ED86B52B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CAB042CD-8164-9F9E-08B6-8B17B900DDEA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58A94AE9-C794-A77E-E589-AF8017D197E6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LATERAL ACCELERATION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10B36636-E786-02DE-FF95-36FE9EB6C196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21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6C83FC7F-B0BD-980C-0F33-E28D52012606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B5082-8F3E-BB2A-DCDC-1F2B4D166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601" y="1116221"/>
            <a:ext cx="3560437" cy="23106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65095C-1410-425D-D9FB-5B3B35DC7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775" y="1116221"/>
            <a:ext cx="3556247" cy="23106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6CFBAA-5580-E740-B3DA-7F0BE05D2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601" y="3724565"/>
            <a:ext cx="3560437" cy="24016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703D97-FCB5-DCA5-3B06-52A4FF449D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775" y="3724564"/>
            <a:ext cx="3556247" cy="24016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D94B96-2213-DEDC-6345-3DE4A3C87F1C}"/>
              </a:ext>
            </a:extLst>
          </p:cNvPr>
          <p:cNvSpPr txBox="1"/>
          <p:nvPr/>
        </p:nvSpPr>
        <p:spPr>
          <a:xfrm>
            <a:off x="2522913" y="3403601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93E7B3-3A76-9903-5141-AD08F4442EF4}"/>
              </a:ext>
            </a:extLst>
          </p:cNvPr>
          <p:cNvSpPr txBox="1"/>
          <p:nvPr/>
        </p:nvSpPr>
        <p:spPr>
          <a:xfrm>
            <a:off x="8425572" y="3427171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D134D0-5C23-E1A1-1A82-F750F26D2900}"/>
              </a:ext>
            </a:extLst>
          </p:cNvPr>
          <p:cNvSpPr txBox="1"/>
          <p:nvPr/>
        </p:nvSpPr>
        <p:spPr>
          <a:xfrm>
            <a:off x="2522913" y="6117886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0C5385-94F1-9A53-0A19-C7CE0C4CD314}"/>
              </a:ext>
            </a:extLst>
          </p:cNvPr>
          <p:cNvSpPr txBox="1"/>
          <p:nvPr/>
        </p:nvSpPr>
        <p:spPr>
          <a:xfrm>
            <a:off x="8425572" y="6125293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4</a:t>
            </a:r>
          </a:p>
        </p:txBody>
      </p:sp>
    </p:spTree>
    <p:extLst>
      <p:ext uri="{BB962C8B-B14F-4D97-AF65-F5344CB8AC3E}">
        <p14:creationId xmlns:p14="http://schemas.microsoft.com/office/powerpoint/2010/main" val="104056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568D-7D22-A7E8-61D7-5F405B76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6155A8-7BC2-8CB1-FB99-3E13F05F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22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266E35-6554-3BE5-C6E1-A05DF1328DD1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9242BD-E333-1A6F-4EE7-8D019FDDC2F5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C9407446-54EB-E358-33F2-5DCE4785F970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44454229-6885-B716-971C-E9E61C2D61C8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AC653D46-C833-81CA-7F59-ACDF1BA36562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LATERAL ACCELERATION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E3A4E3A6-EAFD-B469-BE12-B4631953EF4A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22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00A02111-749E-7194-4F0A-6130D456AC63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24C537-8D72-C842-0F98-90E21F2B3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673844"/>
              </p:ext>
            </p:extLst>
          </p:nvPr>
        </p:nvGraphicFramePr>
        <p:xfrm>
          <a:off x="334964" y="1774165"/>
          <a:ext cx="11522076" cy="3108960"/>
        </p:xfrm>
        <a:graphic>
          <a:graphicData uri="http://schemas.openxmlformats.org/drawingml/2006/table">
            <a:tbl>
              <a:tblPr/>
              <a:tblGrid>
                <a:gridCol w="3840692">
                  <a:extLst>
                    <a:ext uri="{9D8B030D-6E8A-4147-A177-3AD203B41FA5}">
                      <a16:colId xmlns:a16="http://schemas.microsoft.com/office/drawing/2014/main" val="2956815123"/>
                    </a:ext>
                  </a:extLst>
                </a:gridCol>
                <a:gridCol w="3840692">
                  <a:extLst>
                    <a:ext uri="{9D8B030D-6E8A-4147-A177-3AD203B41FA5}">
                      <a16:colId xmlns:a16="http://schemas.microsoft.com/office/drawing/2014/main" val="1178907102"/>
                    </a:ext>
                  </a:extLst>
                </a:gridCol>
                <a:gridCol w="3840692">
                  <a:extLst>
                    <a:ext uri="{9D8B030D-6E8A-4147-A177-3AD203B41FA5}">
                      <a16:colId xmlns:a16="http://schemas.microsoft.com/office/drawing/2014/main" val="5973718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Instantaneous Peak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Moving RMS Peak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7808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Physical relevance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Represents a single-sample maximum, often influenced by noise or transients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Represents sustained lateral acceleration over a finite time window, aligned with tire and vehicle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75279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Noise sensitivity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Highly sensitive to sensor noise, spikes, and sampling artifacts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Low sensitivity due to time integration and energy averaging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19045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Use in vehicle dynamics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Suitable for sensor validation or impact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Suitable for cornering performance, grip utilization, and handling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3136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2C243D0-B277-9287-444F-D5784A471FF8}"/>
              </a:ext>
            </a:extLst>
          </p:cNvPr>
          <p:cNvSpPr txBox="1"/>
          <p:nvPr/>
        </p:nvSpPr>
        <p:spPr>
          <a:xfrm>
            <a:off x="3560989" y="1394600"/>
            <a:ext cx="6452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i="1" dirty="0"/>
              <a:t>Table: Parameters considered for Moving RMS detection</a:t>
            </a:r>
          </a:p>
        </p:txBody>
      </p:sp>
    </p:spTree>
    <p:extLst>
      <p:ext uri="{BB962C8B-B14F-4D97-AF65-F5344CB8AC3E}">
        <p14:creationId xmlns:p14="http://schemas.microsoft.com/office/powerpoint/2010/main" val="3240697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678B-AF47-B5FD-3DCE-3397DBCC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BD6976-CBEB-8648-7745-6A093B1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67" y="1418313"/>
            <a:ext cx="8640763" cy="1299008"/>
          </a:xfrm>
        </p:spPr>
        <p:txBody>
          <a:bodyPr/>
          <a:lstStyle/>
          <a:p>
            <a:r>
              <a:rPr lang="it-IT" dirty="0"/>
              <a:t>Task 5</a:t>
            </a:r>
            <a:br>
              <a:rPr lang="it-IT" dirty="0"/>
            </a:br>
            <a:r>
              <a:rPr lang="it-IT" b="0" dirty="0"/>
              <a:t>Gyroscope data correlation with Pitch and Roll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102A275-0B72-DF28-37C4-0E6884CC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23</a:t>
            </a:fld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10133-5420-3475-9FA5-E14A7C8F9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05</a:t>
            </a:r>
          </a:p>
        </p:txBody>
      </p:sp>
      <p:pic>
        <p:nvPicPr>
          <p:cNvPr id="1032" name="Picture 8" descr="Use links below to save image.">
            <a:extLst>
              <a:ext uri="{FF2B5EF4-FFF2-40B4-BE49-F238E27FC236}">
                <a16:creationId xmlns:a16="http://schemas.microsoft.com/office/drawing/2014/main" id="{6DFEC2C5-FF36-C1C0-41BB-27C8A3430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3" y="1646264"/>
            <a:ext cx="843106" cy="84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004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5ABA-28B4-3197-7F02-5E9EA07A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4355CE0-9D10-D440-D71F-C42FCD54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24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A5090-7EEE-A947-1AAF-7C9DEF845AFB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CF86E8-08B6-EE40-7738-3E9D7AD16572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12C5AB00-C613-5A09-51C6-BD0E4D813A84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FF4F82CD-B078-FE54-4D83-2556E8B81C06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FE1D75B6-21F9-14C9-6131-227DFABD3939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GYROSCOPE DATA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C9B68BC7-40A3-1EBC-41FB-6E43F710B84D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24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6BF06C93-1350-52D4-CAAE-5D2E40FCA080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00092F-2F73-E490-0F42-087FF14BE0C2}"/>
              </a:ext>
            </a:extLst>
          </p:cNvPr>
          <p:cNvSpPr txBox="1"/>
          <p:nvPr/>
        </p:nvSpPr>
        <p:spPr>
          <a:xfrm>
            <a:off x="334964" y="1331678"/>
            <a:ext cx="45077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We have utilized Gyroscope X and Y data which relate to pitch and roll. 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Rotation about X axis = Roll</a:t>
            </a:r>
          </a:p>
          <a:p>
            <a:pPr algn="just"/>
            <a:r>
              <a:rPr lang="en-US" b="1" dirty="0"/>
              <a:t>Rotation about Y-axis = Pitch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As mentioned in the task, we have integrated the data using the </a:t>
            </a:r>
            <a:r>
              <a:rPr lang="en-US" dirty="0" err="1"/>
              <a:t>cumtrapz</a:t>
            </a:r>
            <a:r>
              <a:rPr lang="en-US" dirty="0"/>
              <a:t> function in MATLAB.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Low- pass filtering and detrending has been carried out initially to filter out the gyro data noise.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At first glance, we can notice slight offsets in the data.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AB027A-C02E-9444-435E-498A447AA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879" y="621062"/>
            <a:ext cx="3803875" cy="25696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49DFC4-7F04-72CC-DF97-BD94AC5DD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879" y="3372523"/>
            <a:ext cx="3803875" cy="25271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CB09BF6-6711-B1DD-523D-A5E20871565F}"/>
              </a:ext>
            </a:extLst>
          </p:cNvPr>
          <p:cNvSpPr txBox="1"/>
          <p:nvPr/>
        </p:nvSpPr>
        <p:spPr>
          <a:xfrm>
            <a:off x="8109762" y="3158519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Roll Comparison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CCA2B4-827F-7B8B-F815-27A832F8FE79}"/>
              </a:ext>
            </a:extLst>
          </p:cNvPr>
          <p:cNvSpPr txBox="1"/>
          <p:nvPr/>
        </p:nvSpPr>
        <p:spPr>
          <a:xfrm>
            <a:off x="8245189" y="5893750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Pitch Comparison</a:t>
            </a:r>
          </a:p>
        </p:txBody>
      </p:sp>
    </p:spTree>
    <p:extLst>
      <p:ext uri="{BB962C8B-B14F-4D97-AF65-F5344CB8AC3E}">
        <p14:creationId xmlns:p14="http://schemas.microsoft.com/office/powerpoint/2010/main" val="2900244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54EA-6138-0A48-A4F1-BAADC28A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37DE28-AE21-ED63-E3D4-E6E52A99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25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89EED8-4CF4-2603-806C-227FBE535955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0778FD-18A2-2DB6-A634-193DB167D0AD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3379F50A-BA08-3337-1641-EFA6CE3D3846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05F817FE-50EC-CDAE-516E-4212602538C9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18E6A901-62AD-A302-3D11-D173052B61BE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GYROSCOPE DATA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4800A127-86C1-485F-4828-9EF28E87107B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25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ADAC1AF7-479C-AB4D-3667-9D96D91F4C39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50FF1D8-A514-8867-E644-428CBB13C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879" y="621062"/>
            <a:ext cx="3803875" cy="25696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DDF9142-328B-6C84-E086-2A25A6DE1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879" y="3372523"/>
            <a:ext cx="3803875" cy="25271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D19A6C-5276-0E5D-522B-914676694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444401"/>
              </p:ext>
            </p:extLst>
          </p:nvPr>
        </p:nvGraphicFramePr>
        <p:xfrm>
          <a:off x="226026" y="1758175"/>
          <a:ext cx="6093496" cy="2804160"/>
        </p:xfrm>
        <a:graphic>
          <a:graphicData uri="http://schemas.openxmlformats.org/drawingml/2006/table">
            <a:tbl>
              <a:tblPr/>
              <a:tblGrid>
                <a:gridCol w="1523374">
                  <a:extLst>
                    <a:ext uri="{9D8B030D-6E8A-4147-A177-3AD203B41FA5}">
                      <a16:colId xmlns:a16="http://schemas.microsoft.com/office/drawing/2014/main" val="2770409822"/>
                    </a:ext>
                  </a:extLst>
                </a:gridCol>
                <a:gridCol w="1806600">
                  <a:extLst>
                    <a:ext uri="{9D8B030D-6E8A-4147-A177-3AD203B41FA5}">
                      <a16:colId xmlns:a16="http://schemas.microsoft.com/office/drawing/2014/main" val="2797695185"/>
                    </a:ext>
                  </a:extLst>
                </a:gridCol>
                <a:gridCol w="1240148">
                  <a:extLst>
                    <a:ext uri="{9D8B030D-6E8A-4147-A177-3AD203B41FA5}">
                      <a16:colId xmlns:a16="http://schemas.microsoft.com/office/drawing/2014/main" val="4123235262"/>
                    </a:ext>
                  </a:extLst>
                </a:gridCol>
                <a:gridCol w="1523374">
                  <a:extLst>
                    <a:ext uri="{9D8B030D-6E8A-4147-A177-3AD203B41FA5}">
                      <a16:colId xmlns:a16="http://schemas.microsoft.com/office/drawing/2014/main" val="1339666381"/>
                    </a:ext>
                  </a:extLst>
                </a:gridCol>
              </a:tblGrid>
              <a:tr h="521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Measured Roll / Pitch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Integrated Gyro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Effect on Plot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814167"/>
                  </a:ext>
                </a:extLst>
              </a:tr>
              <a:tr h="741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Physical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Absolute orientation w.r.t. gravity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Relative angular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Causes constant offset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829909"/>
                  </a:ext>
                </a:extLst>
              </a:tr>
              <a:tr h="741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Sensor 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Gyro + accelerometer (sensor fusion)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Gyroscope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Different reference frames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720443"/>
                  </a:ext>
                </a:extLst>
              </a:tr>
              <a:tr h="521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Reference frame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Navigation / gravity frame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IMU body frame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Same shape, different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7395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DB5559D-8C9C-7AC7-0669-A654CDDFFBA9}"/>
              </a:ext>
            </a:extLst>
          </p:cNvPr>
          <p:cNvSpPr txBox="1"/>
          <p:nvPr/>
        </p:nvSpPr>
        <p:spPr>
          <a:xfrm>
            <a:off x="8109762" y="3158519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Roll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2A7C3-C34F-9EBD-BD2F-D555E4A69B3F}"/>
              </a:ext>
            </a:extLst>
          </p:cNvPr>
          <p:cNvSpPr txBox="1"/>
          <p:nvPr/>
        </p:nvSpPr>
        <p:spPr>
          <a:xfrm>
            <a:off x="8245189" y="5893750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Pitch Comparison</a:t>
            </a:r>
          </a:p>
        </p:txBody>
      </p:sp>
    </p:spTree>
    <p:extLst>
      <p:ext uri="{BB962C8B-B14F-4D97-AF65-F5344CB8AC3E}">
        <p14:creationId xmlns:p14="http://schemas.microsoft.com/office/powerpoint/2010/main" val="1152260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7817D-69B5-FA2D-D5D5-BD216A906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845674-B42D-8C4A-9273-FD44F620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26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755663-8F9B-0B66-46F8-A29FF3143344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CF84D-B630-5DA8-5C99-1E97D03195F2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6CB2DB22-9E35-B6C3-65DD-F79435D01804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6A70EB10-F979-587A-DBC9-CBBE53DF6272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FF606BC8-0146-DD4A-A269-F42C2CDE9969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DATA COMPARISON</a:t>
            </a:r>
            <a:br>
              <a:rPr lang="it-IT" dirty="0"/>
            </a:br>
            <a:endParaRPr lang="it-IT" dirty="0"/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B4C853DE-1490-51D0-7F09-EA6CF25923D2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26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7000360B-B499-246A-7C7C-AAA80D09E795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530B524-84F5-811F-D564-2B3633C21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8" y="1250228"/>
            <a:ext cx="2842428" cy="19201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ACD7AA9-8B84-2E7F-AEAF-894996E5B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27" y="3707790"/>
            <a:ext cx="2842429" cy="18883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FA8C5F-B6BD-83BE-9536-126A99A6B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8219" y="1267067"/>
            <a:ext cx="2813283" cy="19201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88224D-BF86-C92A-9DF3-3217D5C84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7364" y="3707790"/>
            <a:ext cx="2813283" cy="19056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E21F64-8BE9-8326-8F1E-8F755CDE69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2026" y="1267038"/>
            <a:ext cx="2902941" cy="1920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310CEB-4D33-E079-E436-0D3C40F4E0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2025" y="3707790"/>
            <a:ext cx="2902941" cy="19056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2715849-C918-DB53-2D95-0C3D883F5A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5491" y="1267038"/>
            <a:ext cx="2916170" cy="1920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AF909CF-F95A-9A0B-1362-7A675D8FA8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65491" y="3702568"/>
            <a:ext cx="2926974" cy="19056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0B3EB2A-FA7B-FF4F-5A84-1DB044084420}"/>
              </a:ext>
            </a:extLst>
          </p:cNvPr>
          <p:cNvSpPr txBox="1"/>
          <p:nvPr/>
        </p:nvSpPr>
        <p:spPr>
          <a:xfrm>
            <a:off x="1079892" y="1063183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91EA16-0986-9D0C-2659-D851BC7B962E}"/>
              </a:ext>
            </a:extLst>
          </p:cNvPr>
          <p:cNvSpPr txBox="1"/>
          <p:nvPr/>
        </p:nvSpPr>
        <p:spPr>
          <a:xfrm>
            <a:off x="4071525" y="1059525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ABD6C3-6A14-BF95-DDCA-838866C0975D}"/>
              </a:ext>
            </a:extLst>
          </p:cNvPr>
          <p:cNvSpPr txBox="1"/>
          <p:nvPr/>
        </p:nvSpPr>
        <p:spPr>
          <a:xfrm>
            <a:off x="7063158" y="1047683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76D7D4-65F4-C10B-AC48-B71D3C6A1EDA}"/>
              </a:ext>
            </a:extLst>
          </p:cNvPr>
          <p:cNvSpPr txBox="1"/>
          <p:nvPr/>
        </p:nvSpPr>
        <p:spPr>
          <a:xfrm>
            <a:off x="10128911" y="1032212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4</a:t>
            </a:r>
          </a:p>
        </p:txBody>
      </p:sp>
    </p:spTree>
    <p:extLst>
      <p:ext uri="{BB962C8B-B14F-4D97-AF65-F5344CB8AC3E}">
        <p14:creationId xmlns:p14="http://schemas.microsoft.com/office/powerpoint/2010/main" val="2079273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109A-A254-ADCB-8480-6F14691CE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1A982-011C-C509-93A8-A35776C65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67" y="1418313"/>
            <a:ext cx="8640763" cy="1299008"/>
          </a:xfrm>
        </p:spPr>
        <p:txBody>
          <a:bodyPr/>
          <a:lstStyle/>
          <a:p>
            <a:r>
              <a:rPr lang="it-IT" dirty="0"/>
              <a:t>Task 6</a:t>
            </a:r>
            <a:br>
              <a:rPr lang="it-IT" dirty="0"/>
            </a:br>
            <a:r>
              <a:rPr lang="it-IT" b="0" dirty="0"/>
              <a:t>Spatial Lag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70B3E12-1516-6D0D-EBA7-3948D388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27</a:t>
            </a:fld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7D4DC-5177-2D1D-A991-1A8F514E87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06</a:t>
            </a:r>
          </a:p>
        </p:txBody>
      </p:sp>
      <p:pic>
        <p:nvPicPr>
          <p:cNvPr id="1032" name="Picture 8" descr="Use links below to save image.">
            <a:extLst>
              <a:ext uri="{FF2B5EF4-FFF2-40B4-BE49-F238E27FC236}">
                <a16:creationId xmlns:a16="http://schemas.microsoft.com/office/drawing/2014/main" id="{03C62D41-64C0-FB8F-167B-3B6EEB378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3" y="1646264"/>
            <a:ext cx="843106" cy="84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735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61690-E94B-DE2E-4295-548FD9DEB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F14BB17-18A3-F64C-D001-65BFD1CD1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28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8CCE04-F3DE-4774-86B3-18215022D7EE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D6D90A-9FFA-6833-5099-D1A309C6E58A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3AE94B5B-0D62-9E23-26E6-4DEE1379A968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BCD7556F-5706-5AF4-8006-BE15C61B04C6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C0AE493C-0869-6AD8-2F84-05A0FBF54304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SPATIAL LAG</a:t>
            </a:r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E7D0988C-E6BF-18C7-257F-2866ADF02B6A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28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C52DE7BD-B043-C393-DAA3-DC1F65F44AA6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45647A-3950-D95D-C6AF-552578D3490D}"/>
              </a:ext>
            </a:extLst>
          </p:cNvPr>
          <p:cNvSpPr txBox="1"/>
          <p:nvPr/>
        </p:nvSpPr>
        <p:spPr>
          <a:xfrm>
            <a:off x="334964" y="1378527"/>
            <a:ext cx="45077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To determine the spatial lag, we have utilized a second set of code independent of the individual dataset analysis.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We have implemented a function for speed calculation based on our earlier Haversine speed formulation.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Furthermore, by using a cumulative distance from speed calculation we have also defined a spatial domain.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E6C59-DE94-D255-2382-943E11AFB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369" y="1378527"/>
            <a:ext cx="5391902" cy="36390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9812EF-2A87-037B-856C-5C1C8FD3131C}"/>
              </a:ext>
            </a:extLst>
          </p:cNvPr>
          <p:cNvSpPr txBox="1"/>
          <p:nvPr/>
        </p:nvSpPr>
        <p:spPr>
          <a:xfrm>
            <a:off x="7723939" y="5044896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Speed Profile of all Tests</a:t>
            </a:r>
          </a:p>
        </p:txBody>
      </p:sp>
    </p:spTree>
    <p:extLst>
      <p:ext uri="{BB962C8B-B14F-4D97-AF65-F5344CB8AC3E}">
        <p14:creationId xmlns:p14="http://schemas.microsoft.com/office/powerpoint/2010/main" val="1201177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36FE-48E1-13A1-BF3A-95D5562D3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788CE3F-798C-1084-D45E-38A5E636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29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7FC57A-F953-16AA-7D7D-7E78C94180D5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967DC6-79CB-B7B1-0D6D-B5F44FA5B006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6EFEEE3D-CE97-E484-8540-562CC81952F5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9283B31C-52D1-B163-CAD6-ECF715D17FCA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DADBAEA6-E373-59EB-5368-991A55170C54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SPATIAL LAG</a:t>
            </a:r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6CCFEA6B-A03B-ECB7-27CD-24D27ADB005E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29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AA0A4DCF-1E8A-9475-302C-A4E977F5AE4B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313931-DF0F-10FF-6D97-A5D8DE004483}"/>
              </a:ext>
            </a:extLst>
          </p:cNvPr>
          <p:cNvSpPr txBox="1"/>
          <p:nvPr/>
        </p:nvSpPr>
        <p:spPr>
          <a:xfrm>
            <a:off x="334964" y="1457912"/>
            <a:ext cx="45077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lag is determined as follows-</a:t>
            </a:r>
          </a:p>
          <a:p>
            <a:pPr marL="342900" indent="-342900" algn="just">
              <a:buAutoNum type="arabicPeriod"/>
            </a:pPr>
            <a:r>
              <a:rPr lang="en-US" dirty="0"/>
              <a:t>We have defined a window of around 150m around the max speed point to extract specific range of data.</a:t>
            </a:r>
          </a:p>
          <a:p>
            <a:pPr marL="342900" indent="-342900" algn="just">
              <a:buAutoNum type="arabicPeriod"/>
            </a:pPr>
            <a:r>
              <a:rPr lang="en-US" dirty="0"/>
              <a:t>Interpolated the test set spatial data against reference to have identical sampling size. </a:t>
            </a:r>
          </a:p>
          <a:p>
            <a:pPr marL="342900" indent="-342900" algn="just">
              <a:buAutoNum type="arabicPeriod"/>
            </a:pPr>
            <a:r>
              <a:rPr lang="en-US" dirty="0"/>
              <a:t>Cross-correlated the velocity data of two sets of data</a:t>
            </a:r>
          </a:p>
          <a:p>
            <a:pPr marL="342900" indent="-342900" algn="just">
              <a:buAutoNum type="arabicPeriod"/>
            </a:pPr>
            <a:r>
              <a:rPr lang="en-US" dirty="0"/>
              <a:t>Multiplying the measured lag to the mean distance of reference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6A5BB-73A8-66AE-4E92-9126928ED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359" y="1378527"/>
            <a:ext cx="5582429" cy="3705742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277BDF-BF0A-DDEA-BE54-225C288F4E00}"/>
              </a:ext>
            </a:extLst>
          </p:cNvPr>
          <p:cNvSpPr txBox="1"/>
          <p:nvPr/>
        </p:nvSpPr>
        <p:spPr>
          <a:xfrm>
            <a:off x="7856019" y="5084269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Spatial Lag Detection</a:t>
            </a:r>
          </a:p>
        </p:txBody>
      </p:sp>
    </p:spTree>
    <p:extLst>
      <p:ext uri="{BB962C8B-B14F-4D97-AF65-F5344CB8AC3E}">
        <p14:creationId xmlns:p14="http://schemas.microsoft.com/office/powerpoint/2010/main" val="1188760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19AE-BB3E-3AF2-5648-3AC6EAF1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4D97E0C-F1D4-B5C8-3A8B-93A9F5A1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30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62D7E0-B3CC-8382-62BB-120576E2E62D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8ACCC9-7A38-41AE-B0D7-BD0568DB23E9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7E6ECC8A-6131-0C2E-5E56-E60AB41413F0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7C2ECA39-3331-6FF0-4920-0D6516E10F09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5C0C04D2-19A5-E6F8-E8C0-031D1E50A07A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SPATIAL LAG</a:t>
            </a:r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24132326-9B4A-1BE3-9E70-11E08ECDCC32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30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EC111164-25EF-6D71-7546-91800BE2B0BF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47019-934D-92BD-16E9-9CEFEA1D5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63" y="1065723"/>
            <a:ext cx="3505970" cy="2327342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9D6DC3-349E-F013-C78B-0A8D9BFDC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541" y="1063969"/>
            <a:ext cx="3505970" cy="23273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2331F9-F2C6-EF97-A9B8-42F68FBCC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64" y="3581673"/>
            <a:ext cx="3524769" cy="2422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2D9941-5681-FBC5-C145-55AA003F76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541" y="3581672"/>
            <a:ext cx="3505970" cy="2422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38AE73-797A-8E5B-A45E-3760AD88D8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209" y="1063969"/>
            <a:ext cx="3596879" cy="23273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0A15CE-A758-1C23-2345-67117AC8F6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209" y="3581672"/>
            <a:ext cx="3596879" cy="2422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BC339C3-A042-F052-EC69-CBDE26907109}"/>
              </a:ext>
            </a:extLst>
          </p:cNvPr>
          <p:cNvSpPr txBox="1"/>
          <p:nvPr/>
        </p:nvSpPr>
        <p:spPr>
          <a:xfrm>
            <a:off x="5292037" y="6068273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Spatial Lags for All Datasets</a:t>
            </a:r>
          </a:p>
        </p:txBody>
      </p:sp>
    </p:spTree>
    <p:extLst>
      <p:ext uri="{BB962C8B-B14F-4D97-AF65-F5344CB8AC3E}">
        <p14:creationId xmlns:p14="http://schemas.microsoft.com/office/powerpoint/2010/main" val="1370004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AC97-14AB-394F-2DBC-9AEE6CBAF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8B79B2-C323-0F32-59E4-F9FE8E07D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67" y="1418313"/>
            <a:ext cx="8640763" cy="1299008"/>
          </a:xfrm>
        </p:spPr>
        <p:txBody>
          <a:bodyPr/>
          <a:lstStyle/>
          <a:p>
            <a:r>
              <a:rPr lang="it-IT" dirty="0"/>
              <a:t>Conclusions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1EE43F4-DDB9-8492-2508-00001762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31</a:t>
            </a:fld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CDFC2-F008-EB8F-3BE7-917D296B5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07</a:t>
            </a:r>
          </a:p>
        </p:txBody>
      </p:sp>
      <p:pic>
        <p:nvPicPr>
          <p:cNvPr id="1032" name="Picture 8" descr="Use links below to save image.">
            <a:extLst>
              <a:ext uri="{FF2B5EF4-FFF2-40B4-BE49-F238E27FC236}">
                <a16:creationId xmlns:a16="http://schemas.microsoft.com/office/drawing/2014/main" id="{B4A8AF19-C9FB-2F00-9918-25697F036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3" y="1646264"/>
            <a:ext cx="843106" cy="84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81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4261B-52D9-156B-94C5-97DF08C1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4396E64-F3C7-BCC7-16C9-726ED246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32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3E7EFC-9AE4-D9E7-40DE-927853D71C5C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2BBA1F-6ED1-6F10-3A02-5A9FDBE29C98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E16B9570-E71A-DC24-35CB-3B9342D066BF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4FE1B2C3-9AB5-5DAA-D6B3-7650B8284EEA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439EF9A7-4457-F3C1-F972-42B056C95B7A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Marked Points on GPS Data</a:t>
            </a:r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2C67FCC0-E489-87A7-3732-A55352C35843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32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4B4992FF-428E-833D-2488-B14592FF9A62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BC00D-0E5D-7699-D4B5-328F0CD20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88" y="1057682"/>
            <a:ext cx="3800912" cy="23559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9C0C7B-134B-A127-41C3-24B04A43F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876" y="1005186"/>
            <a:ext cx="3800912" cy="24084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ACE9A0-9202-F37B-FEAB-F93D9E8FA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88" y="3669313"/>
            <a:ext cx="3800912" cy="24989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0DB074-BE0F-A883-9EC4-D0498A008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876" y="3669313"/>
            <a:ext cx="3800912" cy="24989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F0628BB-2B89-D47F-C557-1EC10EEB9CB1}"/>
              </a:ext>
            </a:extLst>
          </p:cNvPr>
          <p:cNvSpPr txBox="1"/>
          <p:nvPr/>
        </p:nvSpPr>
        <p:spPr>
          <a:xfrm>
            <a:off x="4654964" y="2715946"/>
            <a:ext cx="26162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The following points have been marked-</a:t>
            </a:r>
          </a:p>
          <a:p>
            <a:pPr marL="342900" indent="-342900" algn="just">
              <a:buAutoNum type="alphaLcPeriod"/>
            </a:pPr>
            <a:r>
              <a:rPr lang="en-US" sz="1400" dirty="0"/>
              <a:t>Max Speed</a:t>
            </a:r>
          </a:p>
          <a:p>
            <a:pPr marL="342900" indent="-342900" algn="just">
              <a:buAutoNum type="alphaLcPeriod"/>
            </a:pPr>
            <a:r>
              <a:rPr lang="en-US" sz="1400" dirty="0"/>
              <a:t>Braking Onset</a:t>
            </a:r>
          </a:p>
          <a:p>
            <a:pPr marL="342900" indent="-342900" algn="just">
              <a:buAutoNum type="alphaLcPeriod"/>
            </a:pPr>
            <a:r>
              <a:rPr lang="en-US" sz="1400" dirty="0"/>
              <a:t>Steering Correction</a:t>
            </a:r>
          </a:p>
          <a:p>
            <a:pPr marL="342900" indent="-342900" algn="just">
              <a:buAutoNum type="alphaLcPeriod"/>
            </a:pPr>
            <a:r>
              <a:rPr lang="en-US" sz="1400" dirty="0"/>
              <a:t>Max Lateral Acceleration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2DA213-4BC0-1C01-E4A6-E62CB7DFE3E6}"/>
              </a:ext>
            </a:extLst>
          </p:cNvPr>
          <p:cNvSpPr txBox="1"/>
          <p:nvPr/>
        </p:nvSpPr>
        <p:spPr>
          <a:xfrm>
            <a:off x="2132515" y="3429000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BD37A6-38AE-ADD9-E735-85F36D6471E7}"/>
              </a:ext>
            </a:extLst>
          </p:cNvPr>
          <p:cNvSpPr txBox="1"/>
          <p:nvPr/>
        </p:nvSpPr>
        <p:spPr>
          <a:xfrm>
            <a:off x="9057854" y="3395779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AA2CC6-0BD7-63AE-B281-7E3D52A05463}"/>
              </a:ext>
            </a:extLst>
          </p:cNvPr>
          <p:cNvSpPr txBox="1"/>
          <p:nvPr/>
        </p:nvSpPr>
        <p:spPr>
          <a:xfrm>
            <a:off x="2130419" y="6172992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2C510-F575-AFBF-6E00-977093CC4CC2}"/>
              </a:ext>
            </a:extLst>
          </p:cNvPr>
          <p:cNvSpPr txBox="1"/>
          <p:nvPr/>
        </p:nvSpPr>
        <p:spPr>
          <a:xfrm>
            <a:off x="9057854" y="6172992"/>
            <a:ext cx="6452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i="1" dirty="0"/>
              <a:t>Fig. Data 4</a:t>
            </a:r>
          </a:p>
        </p:txBody>
      </p:sp>
    </p:spTree>
    <p:extLst>
      <p:ext uri="{BB962C8B-B14F-4D97-AF65-F5344CB8AC3E}">
        <p14:creationId xmlns:p14="http://schemas.microsoft.com/office/powerpoint/2010/main" val="1759489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44AB-A973-6FCA-B194-16C17F9A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250D0A-B89F-9509-5083-23550498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33</a:t>
            </a:fld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D5EDB-196C-5BEB-E72D-BA4A9ECBCF4F}"/>
              </a:ext>
            </a:extLst>
          </p:cNvPr>
          <p:cNvSpPr/>
          <p:nvPr/>
        </p:nvSpPr>
        <p:spPr>
          <a:xfrm>
            <a:off x="0" y="6423949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12EE6C-7DB7-77C6-38D8-52ACA6DD130B}"/>
              </a:ext>
            </a:extLst>
          </p:cNvPr>
          <p:cNvSpPr/>
          <p:nvPr/>
        </p:nvSpPr>
        <p:spPr>
          <a:xfrm>
            <a:off x="-1922" y="5224"/>
            <a:ext cx="12192000" cy="434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B49EB7EA-2A95-12DD-82B1-B39C5C76DC35}"/>
              </a:ext>
            </a:extLst>
          </p:cNvPr>
          <p:cNvSpPr txBox="1">
            <a:spLocks/>
          </p:cNvSpPr>
          <p:nvPr/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>
              <a:solidFill>
                <a:schemeClr val="bg1"/>
              </a:solidFill>
            </a:endParaRP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20E313BE-D979-1AAD-B369-F433B0F7C023}"/>
              </a:ext>
            </a:extLst>
          </p:cNvPr>
          <p:cNvSpPr txBox="1">
            <a:spLocks/>
          </p:cNvSpPr>
          <p:nvPr/>
        </p:nvSpPr>
        <p:spPr>
          <a:xfrm>
            <a:off x="83786" y="32990"/>
            <a:ext cx="670322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100" dirty="0">
                <a:solidFill>
                  <a:schemeClr val="bg1"/>
                </a:solidFill>
              </a:rPr>
              <a:t>DAFTS PROJECT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9808EDE4-455E-0715-26FA-2E137B506944}"/>
              </a:ext>
            </a:extLst>
          </p:cNvPr>
          <p:cNvSpPr txBox="1">
            <a:spLocks/>
          </p:cNvSpPr>
          <p:nvPr/>
        </p:nvSpPr>
        <p:spPr>
          <a:xfrm>
            <a:off x="334964" y="621062"/>
            <a:ext cx="864000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Conclusion</a:t>
            </a:r>
          </a:p>
        </p:txBody>
      </p: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49BC40AA-8D60-5AC6-7711-9C94856F5F95}"/>
              </a:ext>
            </a:extLst>
          </p:cNvPr>
          <p:cNvSpPr txBox="1">
            <a:spLocks/>
          </p:cNvSpPr>
          <p:nvPr/>
        </p:nvSpPr>
        <p:spPr>
          <a:xfrm>
            <a:off x="10949965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35EEA2-8D42-4D46-95A6-66E65FDC5EB1}" type="slidenum">
              <a:rPr lang="it-IT" smtClean="0">
                <a:solidFill>
                  <a:schemeClr val="bg1"/>
                </a:solidFill>
              </a:rPr>
              <a:pPr/>
              <a:t>33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0" name="Segnaposto testo 1">
            <a:extLst>
              <a:ext uri="{FF2B5EF4-FFF2-40B4-BE49-F238E27FC236}">
                <a16:creationId xmlns:a16="http://schemas.microsoft.com/office/drawing/2014/main" id="{C65C4DEB-795B-8D67-8B9E-33019817239D}"/>
              </a:ext>
            </a:extLst>
          </p:cNvPr>
          <p:cNvSpPr txBox="1">
            <a:spLocks/>
          </p:cNvSpPr>
          <p:nvPr/>
        </p:nvSpPr>
        <p:spPr>
          <a:xfrm>
            <a:off x="83786" y="6451260"/>
            <a:ext cx="12020584" cy="3794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dirty="0">
                <a:solidFill>
                  <a:schemeClr val="bg1"/>
                </a:solidFill>
              </a:rPr>
              <a:t>Politecnico di Milano | 1863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Arindam Sharma, Riddhima Srivastava  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34DEC9-B1C8-B71E-E3AF-049DE10CDD31}"/>
              </a:ext>
            </a:extLst>
          </p:cNvPr>
          <p:cNvSpPr txBox="1"/>
          <p:nvPr/>
        </p:nvSpPr>
        <p:spPr>
          <a:xfrm>
            <a:off x="334963" y="1041103"/>
            <a:ext cx="116575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The Data Analysis Project has been carried out by us and has helped us better understand many of the concepts that were taught in class. </a:t>
            </a:r>
          </a:p>
          <a:p>
            <a:pPr algn="just"/>
            <a:br>
              <a:rPr lang="en-US" sz="1400" dirty="0"/>
            </a:br>
            <a:r>
              <a:rPr lang="en-US" sz="1400" dirty="0"/>
              <a:t>The work has been divided between the two of us with each handling one half of the task and developing an alternative method wherever possible.  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We have taken multiple references from web sources, AI and class material for concept formulation and code implementation wherever possible. 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The work split has been as follows – </a:t>
            </a:r>
          </a:p>
          <a:p>
            <a:pPr marL="342900" indent="-342900" algn="just">
              <a:buAutoNum type="arabicPeriod"/>
            </a:pPr>
            <a:r>
              <a:rPr lang="en-US" sz="1400" dirty="0"/>
              <a:t>Speed Profile (IMU) – Arindam</a:t>
            </a:r>
          </a:p>
          <a:p>
            <a:pPr marL="342900" indent="-342900" algn="just">
              <a:buAutoNum type="arabicPeriod"/>
            </a:pPr>
            <a:r>
              <a:rPr lang="en-US" sz="1400" dirty="0"/>
              <a:t>Speed Profile (GPS) – Riddhima</a:t>
            </a:r>
          </a:p>
          <a:p>
            <a:pPr marL="342900" indent="-342900" algn="just">
              <a:buAutoNum type="arabicPeriod"/>
            </a:pPr>
            <a:r>
              <a:rPr lang="en-US" sz="1400" dirty="0"/>
              <a:t>Braking Detection – Arindam</a:t>
            </a:r>
          </a:p>
          <a:p>
            <a:pPr marL="342900" indent="-342900" algn="just">
              <a:buAutoNum type="arabicPeriod"/>
            </a:pPr>
            <a:r>
              <a:rPr lang="en-US" sz="1400" dirty="0"/>
              <a:t>Steering Correction Analysis – Arindam</a:t>
            </a:r>
          </a:p>
          <a:p>
            <a:pPr marL="342900" indent="-342900" algn="just">
              <a:buAutoNum type="arabicPeriod"/>
            </a:pPr>
            <a:r>
              <a:rPr lang="en-US" sz="1400" dirty="0"/>
              <a:t>Lateral Acceleration – Riddhima</a:t>
            </a:r>
          </a:p>
          <a:p>
            <a:pPr marL="342900" indent="-342900" algn="just">
              <a:buAutoNum type="arabicPeriod"/>
            </a:pPr>
            <a:r>
              <a:rPr lang="en-US" sz="1400" dirty="0"/>
              <a:t>Gyro data and Roll/Pitch Correlation – Riddhima</a:t>
            </a:r>
          </a:p>
          <a:p>
            <a:pPr marL="342900" indent="-342900" algn="just">
              <a:buAutoNum type="arabicPeriod"/>
            </a:pPr>
            <a:r>
              <a:rPr lang="en-US" sz="1400" dirty="0"/>
              <a:t>Spatial Lag -  Arindam / Riddhima</a:t>
            </a:r>
          </a:p>
          <a:p>
            <a:pPr marL="342900" indent="-342900" algn="just">
              <a:buAutoNum type="arabicPeriod"/>
            </a:pPr>
            <a:r>
              <a:rPr lang="en-US" sz="1400" dirty="0"/>
              <a:t>Presentation – Arindam / Riddhima</a:t>
            </a:r>
          </a:p>
          <a:p>
            <a:pPr marL="342900" indent="-342900" algn="just">
              <a:buAutoNum type="arabicPeriod"/>
            </a:pPr>
            <a:endParaRPr lang="en-US" sz="1400" dirty="0"/>
          </a:p>
          <a:p>
            <a:pPr algn="just"/>
            <a:r>
              <a:rPr lang="en-US" sz="1400" dirty="0"/>
              <a:t>We thank the professors for their guidance and support.</a:t>
            </a:r>
          </a:p>
          <a:p>
            <a:pPr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71480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nterni">
  <a:themeElements>
    <a:clrScheme name="Polimi ppt blu102c53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102C53"/>
      </a:accent1>
      <a:accent2>
        <a:srgbClr val="596C87"/>
      </a:accent2>
      <a:accent3>
        <a:srgbClr val="8795A8"/>
      </a:accent3>
      <a:accent4>
        <a:srgbClr val="B7BFCA"/>
      </a:accent4>
      <a:accent5>
        <a:srgbClr val="D0D5DD"/>
      </a:accent5>
      <a:accent6>
        <a:srgbClr val="F3F3F6"/>
      </a:accent6>
      <a:hlink>
        <a:srgbClr val="0000FF"/>
      </a:hlink>
      <a:folHlink>
        <a:srgbClr val="28C8F0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nrope_2024_regular" id="{AF503DD6-45CC-4FD9-A316-7E3073ACAABC}" vid="{376A186E-ACA5-4725-B103-CB5852E20BBA}"/>
    </a:ext>
  </a:extLst>
</a:theme>
</file>

<file path=ppt/theme/theme2.xml><?xml version="1.0" encoding="utf-8"?>
<a:theme xmlns:a="http://schemas.openxmlformats.org/drawingml/2006/main" name="Cover">
  <a:themeElements>
    <a:clrScheme name="Polimi ppt blu102c53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102C53"/>
      </a:accent1>
      <a:accent2>
        <a:srgbClr val="596C87"/>
      </a:accent2>
      <a:accent3>
        <a:srgbClr val="8795A8"/>
      </a:accent3>
      <a:accent4>
        <a:srgbClr val="B7BFCA"/>
      </a:accent4>
      <a:accent5>
        <a:srgbClr val="D0D5DD"/>
      </a:accent5>
      <a:accent6>
        <a:srgbClr val="F3F3F6"/>
      </a:accent6>
      <a:hlink>
        <a:srgbClr val="0000FF"/>
      </a:hlink>
      <a:folHlink>
        <a:srgbClr val="28C8F0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nrope_2024_regular" id="{AF503DD6-45CC-4FD9-A316-7E3073ACAABC}" vid="{376A186E-ACA5-4725-B103-CB5852E20BB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ppt_manrope_2024_regular</Template>
  <TotalTime>2863</TotalTime>
  <Words>2164</Words>
  <Application>Microsoft Office PowerPoint</Application>
  <PresentationFormat>Widescreen</PresentationFormat>
  <Paragraphs>400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Manrope</vt:lpstr>
      <vt:lpstr>Calibri</vt:lpstr>
      <vt:lpstr>Interni</vt:lpstr>
      <vt:lpstr>Cover</vt:lpstr>
      <vt:lpstr>DATA ANALYSIS FOR FUTURE TRANSPORTATION SYSTEMS PROJECT- BLIND ASSIGNMENT 1</vt:lpstr>
      <vt:lpstr>Contents </vt:lpstr>
      <vt:lpstr>Introduction</vt:lpstr>
      <vt:lpstr>Strain History</vt:lpstr>
      <vt:lpstr>Task 1 and Task 2 Max Speed and Braking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3 Steering Correction Analysis</vt:lpstr>
      <vt:lpstr>PowerPoint Presentation</vt:lpstr>
      <vt:lpstr>PowerPoint Presentation</vt:lpstr>
      <vt:lpstr>PowerPoint Presentation</vt:lpstr>
      <vt:lpstr>PowerPoint Presentation</vt:lpstr>
      <vt:lpstr>Task 4 Lateral Acceleration</vt:lpstr>
      <vt:lpstr>PowerPoint Presentation</vt:lpstr>
      <vt:lpstr>PowerPoint Presentation</vt:lpstr>
      <vt:lpstr>PowerPoint Presentation</vt:lpstr>
      <vt:lpstr>Task 5 Gyroscope data correlation with Pitch and Roll</vt:lpstr>
      <vt:lpstr>PowerPoint Presentation</vt:lpstr>
      <vt:lpstr>PowerPoint Presentation</vt:lpstr>
      <vt:lpstr>PowerPoint Presentation</vt:lpstr>
      <vt:lpstr>Task 6 Spatial Lag</vt:lpstr>
      <vt:lpstr>PowerPoint Presentation</vt:lpstr>
      <vt:lpstr>PowerPoint Presentation</vt:lpstr>
      <vt:lpstr>PowerPoint Presentation</vt:lpstr>
      <vt:lpstr>Conclusions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Camilla Ghironi</dc:creator>
  <cp:lastModifiedBy>Arindam Sharma</cp:lastModifiedBy>
  <cp:revision>208</cp:revision>
  <cp:lastPrinted>2025-12-16T20:39:52Z</cp:lastPrinted>
  <dcterms:created xsi:type="dcterms:W3CDTF">2024-06-28T15:03:44Z</dcterms:created>
  <dcterms:modified xsi:type="dcterms:W3CDTF">2026-01-20T15:19:33Z</dcterms:modified>
</cp:coreProperties>
</file>